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4"/>
  </p:sldMasterIdLst>
  <p:notesMasterIdLst>
    <p:notesMasterId r:id="rId28"/>
  </p:notesMasterIdLst>
  <p:sldIdLst>
    <p:sldId id="256" r:id="rId5"/>
    <p:sldId id="265" r:id="rId6"/>
    <p:sldId id="284" r:id="rId7"/>
    <p:sldId id="285" r:id="rId8"/>
    <p:sldId id="279" r:id="rId9"/>
    <p:sldId id="278" r:id="rId10"/>
    <p:sldId id="280" r:id="rId11"/>
    <p:sldId id="281" r:id="rId12"/>
    <p:sldId id="292" r:id="rId13"/>
    <p:sldId id="293" r:id="rId14"/>
    <p:sldId id="294" r:id="rId15"/>
    <p:sldId id="295" r:id="rId16"/>
    <p:sldId id="296" r:id="rId17"/>
    <p:sldId id="297" r:id="rId18"/>
    <p:sldId id="282" r:id="rId19"/>
    <p:sldId id="289" r:id="rId20"/>
    <p:sldId id="283" r:id="rId21"/>
    <p:sldId id="287" r:id="rId22"/>
    <p:sldId id="288" r:id="rId23"/>
    <p:sldId id="290" r:id="rId24"/>
    <p:sldId id="291" r:id="rId25"/>
    <p:sldId id="274" r:id="rId26"/>
    <p:sldId id="286"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E75E278A-FF0E-49A4-B170-79828D63BBAD}">
          <p14:sldIdLst>
            <p14:sldId id="256"/>
          </p14:sldIdLst>
        </p14:section>
        <p14:section name="Design, Impress, Work Together" id="{B9B51309-D148-4332-87C2-07BE32FBCA3B}">
          <p14:sldIdLst>
            <p14:sldId id="265"/>
            <p14:sldId id="284"/>
            <p14:sldId id="285"/>
            <p14:sldId id="279"/>
            <p14:sldId id="278"/>
            <p14:sldId id="280"/>
            <p14:sldId id="281"/>
            <p14:sldId id="292"/>
            <p14:sldId id="293"/>
            <p14:sldId id="294"/>
            <p14:sldId id="295"/>
            <p14:sldId id="296"/>
            <p14:sldId id="297"/>
            <p14:sldId id="282"/>
            <p14:sldId id="289"/>
            <p14:sldId id="283"/>
            <p14:sldId id="287"/>
            <p14:sldId id="288"/>
            <p14:sldId id="290"/>
            <p14:sldId id="291"/>
            <p14:sldId id="274"/>
            <p14:sldId id="286"/>
          </p14:sldIdLst>
        </p14:section>
        <p14:section name="Learn More" id="{2CC34DB2-6590-42C0-AD4B-A04C6060184E}">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B3026"/>
    <a:srgbClr val="000000"/>
    <a:srgbClr val="008000"/>
    <a:srgbClr val="D2B4A6"/>
    <a:srgbClr val="734F29"/>
    <a:srgbClr val="D24726"/>
    <a:srgbClr val="DD462F"/>
    <a:srgbClr val="AEB785"/>
    <a:srgbClr val="EFD5A2"/>
    <a:srgbClr val="ECE1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280" autoAdjust="0"/>
  </p:normalViewPr>
  <p:slideViewPr>
    <p:cSldViewPr>
      <p:cViewPr varScale="1">
        <p:scale>
          <a:sx n="82" d="100"/>
          <a:sy n="82" d="100"/>
        </p:scale>
        <p:origin x="672" y="72"/>
      </p:cViewPr>
      <p:guideLst>
        <p:guide orient="horz" pos="2160"/>
        <p:guide pos="3840"/>
      </p:guideLst>
    </p:cSldViewPr>
  </p:slideViewPr>
  <p:notesTextViewPr>
    <p:cViewPr>
      <p:scale>
        <a:sx n="1" d="1"/>
        <a:sy n="1" d="1"/>
      </p:scale>
      <p:origin x="0" y="0"/>
    </p:cViewPr>
  </p:notesTextViewPr>
  <p:gridSpacing cx="129600" cy="1296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pPr/>
              <a:t>6/10/2026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pPr/>
              <a:t>‹#›</a:t>
            </a:fld>
            <a:endParaRPr lang="en-US"/>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pPr/>
              <a:t>1</a:t>
            </a:fld>
            <a:endParaRPr lang="en-US"/>
          </a:p>
        </p:txBody>
      </p:sp>
    </p:spTree>
    <p:extLst>
      <p:ext uri="{BB962C8B-B14F-4D97-AF65-F5344CB8AC3E}">
        <p14:creationId xmlns:p14="http://schemas.microsoft.com/office/powerpoint/2010/main" val="1011769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8BEEBAAA-29B5-4AF5-BC5F-7E580C29002D}"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pPr/>
              <a:t>‹#›</a:t>
            </a:fld>
            <a:endParaRPr lang="en-US"/>
          </a:p>
        </p:txBody>
      </p:sp>
      <p:sp>
        <p:nvSpPr>
          <p:cNvPr id="7" name="Rectangle 6"/>
          <p:cNvSpPr/>
          <p:nvPr userDrawn="1"/>
        </p:nvSpPr>
        <p:spPr>
          <a:xfrm>
            <a:off x="0" y="0"/>
            <a:ext cx="12192000" cy="486646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userDrawn="1"/>
        </p:nvSpPr>
        <p:spPr>
          <a:xfrm>
            <a:off x="0" y="0"/>
            <a:ext cx="12192000" cy="486646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084977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BEEBAAA-29B5-4AF5-BC5F-7E580C29002D}"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pPr/>
              <a:t>‹#›</a:t>
            </a:fld>
            <a:endParaRPr lang="en-US"/>
          </a:p>
        </p:txBody>
      </p:sp>
      <p:sp>
        <p:nvSpPr>
          <p:cNvPr id="7" name="Rectangle 6"/>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979898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BEEBAAA-29B5-4AF5-BC5F-7E580C29002D}"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pPr/>
              <a:t>‹#›</a:t>
            </a:fld>
            <a:endParaRPr lang="en-US"/>
          </a:p>
        </p:txBody>
      </p:sp>
      <p:sp>
        <p:nvSpPr>
          <p:cNvPr id="7" name="Rectangle 6"/>
          <p:cNvSpPr/>
          <p:nvPr userDrawn="1"/>
        </p:nvSpPr>
        <p:spPr>
          <a:xfrm>
            <a:off x="5656882" y="1709738"/>
            <a:ext cx="6535119" cy="357518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9392728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BEEBAAA-29B5-4AF5-BC5F-7E580C29002D}" type="datetimeFigureOut">
              <a:rPr lang="en-US" smtClean="0"/>
              <a:pPr/>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60EDB8-5305-433F-BE41-D7A86D811DB3}" type="slidenum">
              <a:rPr lang="en-US" smtClean="0"/>
              <a:pPr/>
              <a:t>‹#›</a:t>
            </a:fld>
            <a:endParaRPr lang="en-US"/>
          </a:p>
        </p:txBody>
      </p:sp>
      <p:sp>
        <p:nvSpPr>
          <p:cNvPr id="8" name="Rectangle 7"/>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5289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8BEEBAAA-29B5-4AF5-BC5F-7E580C29002D}" type="datetimeFigureOut">
              <a:rPr lang="en-US" smtClean="0"/>
              <a:pPr/>
              <a:t>6/10/2026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860EDB8-5305-433F-BE41-D7A86D811DB3}" type="slidenum">
              <a:rPr lang="en-US" smtClean="0"/>
              <a:pPr/>
              <a:t>‹#›</a:t>
            </a:fld>
            <a:endParaRPr lang="en-US"/>
          </a:p>
        </p:txBody>
      </p:sp>
      <p:sp>
        <p:nvSpPr>
          <p:cNvPr id="10" name="Rectangle 9"/>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179411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8BEEBAAA-29B5-4AF5-BC5F-7E580C29002D}" type="datetimeFigureOut">
              <a:rPr lang="en-US" smtClean="0"/>
              <a:pPr/>
              <a:t>6/10/2026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860EDB8-5305-433F-BE41-D7A86D811DB3}" type="slidenum">
              <a:rPr lang="en-US" smtClean="0"/>
              <a:pPr/>
              <a:t>‹#›</a:t>
            </a:fld>
            <a:endParaRPr lang="en-US"/>
          </a:p>
        </p:txBody>
      </p:sp>
      <p:sp>
        <p:nvSpPr>
          <p:cNvPr id="6" name="Rectangle 5"/>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2378242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EEBAAA-29B5-4AF5-BC5F-7E580C29002D}" type="datetimeFigureOut">
              <a:rPr lang="en-US" smtClean="0"/>
              <a:pPr/>
              <a:t>6/10/2026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860EDB8-5305-433F-BE41-D7A86D811DB3}" type="slidenum">
              <a:rPr lang="en-US" smtClean="0"/>
              <a:pPr/>
              <a:t>‹#›</a:t>
            </a:fld>
            <a:endParaRPr lang="en-US"/>
          </a:p>
        </p:txBody>
      </p:sp>
    </p:spTree>
    <p:extLst>
      <p:ext uri="{BB962C8B-B14F-4D97-AF65-F5344CB8AC3E}">
        <p14:creationId xmlns:p14="http://schemas.microsoft.com/office/powerpoint/2010/main" val="40110699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EEBAAA-29B5-4AF5-BC5F-7E580C29002D}" type="datetimeFigureOut">
              <a:rPr lang="en-US" smtClean="0"/>
              <a:pPr/>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60EDB8-5305-433F-BE41-D7A86D811DB3}" type="slidenum">
              <a:rPr lang="en-US" smtClean="0"/>
              <a:pPr/>
              <a:t>‹#›</a:t>
            </a:fld>
            <a:endParaRPr lang="en-US"/>
          </a:p>
        </p:txBody>
      </p:sp>
    </p:spTree>
    <p:extLst>
      <p:ext uri="{BB962C8B-B14F-4D97-AF65-F5344CB8AC3E}">
        <p14:creationId xmlns:p14="http://schemas.microsoft.com/office/powerpoint/2010/main" val="1768303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EEBAAA-29B5-4AF5-BC5F-7E580C29002D}" type="datetimeFigureOut">
              <a:rPr lang="en-US" smtClean="0"/>
              <a:pPr/>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60EDB8-5305-433F-BE41-D7A86D811DB3}" type="slidenum">
              <a:rPr lang="en-US" smtClean="0"/>
              <a:pPr/>
              <a:t>‹#›</a:t>
            </a:fld>
            <a:endParaRPr lang="en-US"/>
          </a:p>
        </p:txBody>
      </p:sp>
    </p:spTree>
    <p:extLst>
      <p:ext uri="{BB962C8B-B14F-4D97-AF65-F5344CB8AC3E}">
        <p14:creationId xmlns:p14="http://schemas.microsoft.com/office/powerpoint/2010/main" val="18534375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BEEBAAA-29B5-4AF5-BC5F-7E580C29002D}"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pPr/>
              <a:t>‹#›</a:t>
            </a:fld>
            <a:endParaRPr lang="en-US"/>
          </a:p>
        </p:txBody>
      </p:sp>
      <p:sp>
        <p:nvSpPr>
          <p:cNvPr id="7" name="Rectangle 6"/>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032842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BEEBAAA-29B5-4AF5-BC5F-7E580C29002D}"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pPr/>
              <a:t>‹#›</a:t>
            </a:fld>
            <a:endParaRPr lang="en-US"/>
          </a:p>
        </p:txBody>
      </p:sp>
      <p:sp>
        <p:nvSpPr>
          <p:cNvPr id="7" name="Rectangle 6"/>
          <p:cNvSpPr/>
          <p:nvPr userDrawn="1"/>
        </p:nvSpPr>
        <p:spPr>
          <a:xfrm>
            <a:off x="10095346" y="0"/>
            <a:ext cx="2096655" cy="685800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785054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EEBAAA-29B5-4AF5-BC5F-7E580C29002D}" type="datetimeFigureOut">
              <a:rPr lang="en-US" smtClean="0"/>
              <a:pPr/>
              <a:t>6/10/2026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60EDB8-5305-433F-BE41-D7A86D811DB3}" type="slidenum">
              <a:rPr lang="en-US" smtClean="0"/>
              <a:pPr/>
              <a:t>‹#›</a:t>
            </a:fld>
            <a:endParaRPr lang="en-US"/>
          </a:p>
        </p:txBody>
      </p:sp>
    </p:spTree>
    <p:extLst>
      <p:ext uri="{BB962C8B-B14F-4D97-AF65-F5344CB8AC3E}">
        <p14:creationId xmlns:p14="http://schemas.microsoft.com/office/powerpoint/2010/main" val="673039863"/>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idx="4294967295"/>
          </p:nvPr>
        </p:nvSpPr>
        <p:spPr>
          <a:xfrm>
            <a:off x="-2" y="199807"/>
            <a:ext cx="12192002" cy="1617074"/>
          </a:xfrm>
        </p:spPr>
        <p:txBody>
          <a:bodyPr>
            <a:normAutofit fontScale="25000" lnSpcReduction="20000"/>
          </a:bodyPr>
          <a:lstStyle/>
          <a:p>
            <a:pPr algn="ctr">
              <a:lnSpc>
                <a:spcPct val="120000"/>
              </a:lnSpc>
              <a:spcBef>
                <a:spcPts val="0"/>
              </a:spcBef>
              <a:spcAft>
                <a:spcPts val="0"/>
              </a:spcAft>
            </a:pPr>
            <a:r>
              <a:rPr lang="en-US" sz="9600" b="1" dirty="0">
                <a:latin typeface="Times New Roman" panose="02020603050405020304" pitchFamily="18" charset="0"/>
                <a:cs typeface="Times New Roman" panose="02020603050405020304" pitchFamily="18" charset="0"/>
              </a:rPr>
              <a:t>            G. NARAYANAMMA INSTITUTE OF TECHNOLOGY &amp; SCIENCE</a:t>
            </a:r>
          </a:p>
          <a:p>
            <a:pPr>
              <a:lnSpc>
                <a:spcPct val="120000"/>
              </a:lnSpc>
              <a:spcBef>
                <a:spcPts val="0"/>
              </a:spcBef>
              <a:spcAft>
                <a:spcPts val="0"/>
              </a:spcAft>
            </a:pPr>
            <a:r>
              <a:rPr lang="en-US" sz="5600" b="1" dirty="0">
                <a:latin typeface="Times New Roman" panose="02020603050405020304" pitchFamily="18" charset="0"/>
                <a:cs typeface="Times New Roman" panose="02020603050405020304" pitchFamily="18" charset="0"/>
              </a:rPr>
              <a:t>				                  		 AUTONOMOUS (For Women)</a:t>
            </a:r>
          </a:p>
          <a:p>
            <a:pPr marL="0" indent="0" algn="ctr">
              <a:lnSpc>
                <a:spcPct val="120000"/>
              </a:lnSpc>
              <a:spcBef>
                <a:spcPts val="0"/>
              </a:spcBef>
              <a:spcAft>
                <a:spcPts val="0"/>
              </a:spcAft>
              <a:buNone/>
            </a:pPr>
            <a:r>
              <a:rPr lang="en-US" sz="5600" b="1" dirty="0">
                <a:latin typeface="Times New Roman" panose="02020603050405020304" pitchFamily="18" charset="0"/>
                <a:cs typeface="Times New Roman" panose="02020603050405020304" pitchFamily="18" charset="0"/>
              </a:rPr>
              <a:t>            </a:t>
            </a:r>
            <a:r>
              <a:rPr lang="en-US" sz="5600" b="1" dirty="0" err="1">
                <a:latin typeface="Times New Roman" panose="02020603050405020304" pitchFamily="18" charset="0"/>
                <a:cs typeface="Times New Roman" panose="02020603050405020304" pitchFamily="18" charset="0"/>
              </a:rPr>
              <a:t>Shaikpet</a:t>
            </a:r>
            <a:r>
              <a:rPr lang="en-US" sz="5600" b="1" dirty="0">
                <a:latin typeface="Times New Roman" panose="02020603050405020304" pitchFamily="18" charset="0"/>
                <a:cs typeface="Times New Roman" panose="02020603050405020304" pitchFamily="18" charset="0"/>
              </a:rPr>
              <a:t>, Hyderabad ,Telangana</a:t>
            </a:r>
          </a:p>
          <a:p>
            <a:pPr marL="0" indent="0" algn="ctr">
              <a:buNone/>
            </a:pPr>
            <a:r>
              <a:rPr lang="en-US" sz="5600" b="1" dirty="0">
                <a:latin typeface="Times New Roman" panose="02020603050405020304" pitchFamily="18" charset="0"/>
                <a:cs typeface="Times New Roman" panose="02020603050405020304" pitchFamily="18" charset="0"/>
              </a:rPr>
              <a:t>                    </a:t>
            </a:r>
            <a:r>
              <a:rPr lang="en-US" sz="6400" b="1" dirty="0">
                <a:latin typeface="Times New Roman" panose="02020603050405020304" pitchFamily="18" charset="0"/>
                <a:cs typeface="Times New Roman" panose="02020603050405020304" pitchFamily="18" charset="0"/>
              </a:rPr>
              <a:t>DEPARTMENT OF COMPUTER SCIENCE AND ENGINEERING</a:t>
            </a:r>
          </a:p>
          <a:p>
            <a:endParaRPr lang="en-US" sz="1600" b="1" dirty="0">
              <a:latin typeface="Arial Black" panose="020B0A04020102020204" pitchFamily="34" charset="0"/>
            </a:endParaRPr>
          </a:p>
          <a:p>
            <a:endParaRPr lang="en-US" sz="1600" b="1" dirty="0">
              <a:solidFill>
                <a:schemeClr val="bg1"/>
              </a:solidFill>
              <a:latin typeface="Arial Black" panose="020B0A04020102020204" pitchFamily="34" charset="0"/>
            </a:endParaRPr>
          </a:p>
        </p:txBody>
      </p:sp>
      <p:sp>
        <p:nvSpPr>
          <p:cNvPr id="7" name="Title 6"/>
          <p:cNvSpPr>
            <a:spLocks noGrp="1"/>
          </p:cNvSpPr>
          <p:nvPr>
            <p:ph type="title" idx="4294967295"/>
          </p:nvPr>
        </p:nvSpPr>
        <p:spPr>
          <a:xfrm>
            <a:off x="264000" y="4336200"/>
            <a:ext cx="2980800" cy="1225550"/>
          </a:xfrm>
        </p:spPr>
        <p:txBody>
          <a:bodyPr>
            <a:normAutofit fontScale="90000"/>
          </a:bodyPr>
          <a:lstStyle/>
          <a:p>
            <a:r>
              <a:rPr lang="en-US" sz="1800" b="1" dirty="0">
                <a:solidFill>
                  <a:schemeClr val="tx1"/>
                </a:solidFill>
                <a:latin typeface="Times New Roman" panose="02020603050405020304" pitchFamily="18" charset="0"/>
                <a:ea typeface="+mn-ea"/>
                <a:cs typeface="Times New Roman" panose="02020603050405020304" pitchFamily="18" charset="0"/>
              </a:rPr>
              <a:t>Presented By:</a:t>
            </a:r>
            <a:br>
              <a:rPr lang="en-US" sz="1800" b="1" dirty="0">
                <a:solidFill>
                  <a:schemeClr val="tx1"/>
                </a:solidFill>
                <a:latin typeface="Times New Roman" panose="02020603050405020304" pitchFamily="18" charset="0"/>
                <a:ea typeface="+mn-ea"/>
                <a:cs typeface="Times New Roman" panose="02020603050405020304" pitchFamily="18" charset="0"/>
              </a:rPr>
            </a:br>
            <a:br>
              <a:rPr lang="en-US" sz="1800" b="1" dirty="0">
                <a:solidFill>
                  <a:schemeClr val="tx1"/>
                </a:solidFill>
                <a:latin typeface="Times New Roman" panose="02020603050405020304" pitchFamily="18" charset="0"/>
                <a:ea typeface="+mn-ea"/>
                <a:cs typeface="Times New Roman" panose="02020603050405020304" pitchFamily="18" charset="0"/>
              </a:rPr>
            </a:br>
            <a:r>
              <a:rPr lang="en-US" sz="1800" b="1" dirty="0">
                <a:solidFill>
                  <a:schemeClr val="tx1"/>
                </a:solidFill>
                <a:latin typeface="Times New Roman" panose="02020603050405020304" pitchFamily="18" charset="0"/>
                <a:ea typeface="+mn-ea"/>
                <a:cs typeface="Times New Roman" panose="02020603050405020304" pitchFamily="18" charset="0"/>
              </a:rPr>
              <a:t>Team Members:</a:t>
            </a:r>
            <a:br>
              <a:rPr lang="en-US" sz="1800" b="1" dirty="0">
                <a:solidFill>
                  <a:schemeClr val="tx1"/>
                </a:solidFill>
                <a:latin typeface="Times New Roman" panose="02020603050405020304" pitchFamily="18" charset="0"/>
                <a:ea typeface="+mn-ea"/>
                <a:cs typeface="Times New Roman" panose="02020603050405020304" pitchFamily="18" charset="0"/>
              </a:rPr>
            </a:br>
            <a:r>
              <a:rPr lang="en-US" sz="1800" b="1" dirty="0">
                <a:solidFill>
                  <a:schemeClr val="tx1"/>
                </a:solidFill>
                <a:latin typeface="Times New Roman" panose="02020603050405020304" pitchFamily="18" charset="0"/>
                <a:ea typeface="+mn-ea"/>
                <a:cs typeface="Times New Roman" panose="02020603050405020304" pitchFamily="18" charset="0"/>
              </a:rPr>
              <a:t>1.K.Pranitha - 24251A05E6</a:t>
            </a:r>
            <a:br>
              <a:rPr lang="en-US" sz="1800" dirty="0">
                <a:solidFill>
                  <a:schemeClr val="tx1"/>
                </a:solidFill>
                <a:latin typeface="Times New Roman" panose="02020603050405020304" pitchFamily="18" charset="0"/>
                <a:cs typeface="Times New Roman" panose="02020603050405020304" pitchFamily="18" charset="0"/>
              </a:rPr>
            </a:br>
            <a:r>
              <a:rPr lang="en-US" sz="1800" b="1" dirty="0">
                <a:solidFill>
                  <a:schemeClr val="tx1"/>
                </a:solidFill>
                <a:latin typeface="Times New Roman" panose="02020603050405020304" pitchFamily="18" charset="0"/>
                <a:ea typeface="+mn-ea"/>
                <a:cs typeface="Times New Roman" panose="02020603050405020304" pitchFamily="18" charset="0"/>
              </a:rPr>
              <a:t>2.M.Sneha-24251A05F1</a:t>
            </a:r>
            <a:br>
              <a:rPr lang="en-US" sz="1800" b="1" dirty="0">
                <a:solidFill>
                  <a:schemeClr val="tx1"/>
                </a:solidFill>
                <a:latin typeface="Times New Roman" panose="02020603050405020304" pitchFamily="18" charset="0"/>
                <a:ea typeface="+mn-ea"/>
                <a:cs typeface="Times New Roman" panose="02020603050405020304" pitchFamily="18" charset="0"/>
              </a:rPr>
            </a:br>
            <a:r>
              <a:rPr lang="en-US" sz="1800" b="1" dirty="0">
                <a:solidFill>
                  <a:schemeClr val="tx1"/>
                </a:solidFill>
                <a:latin typeface="Times New Roman" panose="02020603050405020304" pitchFamily="18" charset="0"/>
                <a:ea typeface="+mn-ea"/>
                <a:cs typeface="Times New Roman" panose="02020603050405020304" pitchFamily="18" charset="0"/>
              </a:rPr>
              <a:t>3.P.Vaishnavi-24251A05F6</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5" name="Title 1"/>
          <p:cNvSpPr txBox="1">
            <a:spLocks/>
          </p:cNvSpPr>
          <p:nvPr/>
        </p:nvSpPr>
        <p:spPr>
          <a:xfrm>
            <a:off x="7538484" y="2317897"/>
            <a:ext cx="4318590" cy="1903227"/>
          </a:xfrm>
          <a:prstGeom prst="rect">
            <a:avLst/>
          </a:prstGeom>
        </p:spPr>
        <p:txBody>
          <a:bodyPr vert="horz" lIns="91440" tIns="45720" rIns="91440" bIns="45720" rtlCol="0" anchor="b">
            <a:normAutofit/>
          </a:bodyPr>
          <a:lstStyle>
            <a:lvl1pPr algn="l" defTabSz="914400" rtl="0" eaLnBrk="1" latinLnBrk="0" hangingPunct="1">
              <a:spcBef>
                <a:spcPct val="0"/>
              </a:spcBef>
              <a:buNone/>
              <a:defRPr sz="5400" kern="1200">
                <a:solidFill>
                  <a:schemeClr val="bg1"/>
                </a:solidFill>
                <a:latin typeface="+mj-lt"/>
                <a:ea typeface="+mj-ea"/>
                <a:cs typeface="+mj-cs"/>
              </a:defRPr>
            </a:lvl1pPr>
          </a:lstStyle>
          <a:p>
            <a:endParaRPr lang="en-US" sz="2400" b="1" dirty="0"/>
          </a:p>
        </p:txBody>
      </p:sp>
      <p:sp>
        <p:nvSpPr>
          <p:cNvPr id="8" name="TextBox 7"/>
          <p:cNvSpPr txBox="1"/>
          <p:nvPr/>
        </p:nvSpPr>
        <p:spPr>
          <a:xfrm>
            <a:off x="8450433" y="3921921"/>
            <a:ext cx="3386419" cy="1600438"/>
          </a:xfrm>
          <a:prstGeom prst="rect">
            <a:avLst/>
          </a:prstGeom>
          <a:noFill/>
        </p:spPr>
        <p:txBody>
          <a:bodyPr wrap="square" rtlCol="0">
            <a:spAutoFit/>
          </a:bodyPr>
          <a:lstStyle/>
          <a:p>
            <a:endParaRPr lang="en-US" sz="1600"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Guide:</a:t>
            </a:r>
          </a:p>
          <a:p>
            <a:br>
              <a:rPr lang="en-US" sz="1600" b="1"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Dr. Jayashree </a:t>
            </a:r>
            <a:r>
              <a:rPr lang="en-US" sz="1600" b="1" dirty="0" err="1">
                <a:latin typeface="Times New Roman" panose="02020603050405020304" pitchFamily="18" charset="0"/>
                <a:cs typeface="Times New Roman" panose="02020603050405020304" pitchFamily="18" charset="0"/>
              </a:rPr>
              <a:t>S.Patil</a:t>
            </a:r>
            <a:endParaRPr lang="en-US" sz="1600"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Associate Professor</a:t>
            </a:r>
            <a:endParaRPr lang="en-IN" sz="1600" b="1"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9" name="TextBox 8"/>
          <p:cNvSpPr txBox="1"/>
          <p:nvPr/>
        </p:nvSpPr>
        <p:spPr>
          <a:xfrm>
            <a:off x="1828983" y="1816881"/>
            <a:ext cx="831466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IoT-Based Non-Destructive Invasive Species Suppression System</a:t>
            </a:r>
          </a:p>
        </p:txBody>
      </p:sp>
      <p:pic>
        <p:nvPicPr>
          <p:cNvPr id="13" name="Picture 12"/>
          <p:cNvPicPr>
            <a:picLocks noChangeAspect="1"/>
          </p:cNvPicPr>
          <p:nvPr/>
        </p:nvPicPr>
        <p:blipFill rotWithShape="1">
          <a:blip r:embed="rId3"/>
          <a:srcRect t="-5651" r="-2039" b="-1"/>
          <a:stretch/>
        </p:blipFill>
        <p:spPr>
          <a:xfrm>
            <a:off x="221682" y="285085"/>
            <a:ext cx="1607301" cy="1459115"/>
          </a:xfrm>
          <a:prstGeom prst="rect">
            <a:avLst/>
          </a:prstGeom>
        </p:spPr>
      </p:pic>
      <p:sp>
        <p:nvSpPr>
          <p:cNvPr id="12" name="TextBox 11"/>
          <p:cNvSpPr txBox="1"/>
          <p:nvPr/>
        </p:nvSpPr>
        <p:spPr>
          <a:xfrm>
            <a:off x="4867690" y="2339579"/>
            <a:ext cx="2456619" cy="923330"/>
          </a:xfrm>
          <a:prstGeom prst="rect">
            <a:avLst/>
          </a:prstGeom>
          <a:noFill/>
        </p:spPr>
        <p:txBody>
          <a:bodyPr wrap="square" rtlCol="0">
            <a:spAutoFit/>
          </a:bodyPr>
          <a:lstStyle/>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Batch No:C8</a:t>
            </a:r>
            <a:br>
              <a:rPr lang="en-US"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1807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03250" y="1446213"/>
            <a:ext cx="11588750" cy="4827587"/>
          </a:xfrm>
        </p:spPr>
        <p:txBody>
          <a:bodyPr>
            <a:normAutofit/>
          </a:bodyPr>
          <a:lstStyle/>
          <a:p>
            <a:pPr marL="285750" indent="-285750">
              <a:buFont typeface="Wingdings" panose="05000000000000000000" pitchFamily="2" charset="2"/>
              <a:buChar char="Ø"/>
            </a:pPr>
            <a:r>
              <a:rPr lang="en-US" sz="1800" b="1" dirty="0">
                <a:solidFill>
                  <a:srgbClr val="3B3026"/>
                </a:solidFill>
                <a:latin typeface="Times New Roman" panose="02020603050405020304" pitchFamily="18" charset="0"/>
                <a:cs typeface="Times New Roman" panose="02020603050405020304" pitchFamily="18" charset="0"/>
              </a:rPr>
              <a:t>Introduction </a:t>
            </a:r>
          </a:p>
          <a:p>
            <a:pPr marL="285750" indent="-285750">
              <a:buFont typeface="Wingdings" panose="05000000000000000000" pitchFamily="2" charset="2"/>
              <a:buChar char="Ø"/>
            </a:pPr>
            <a:r>
              <a:rPr lang="en-US" sz="1800" b="1" dirty="0">
                <a:solidFill>
                  <a:srgbClr val="3B3026"/>
                </a:solidFill>
                <a:latin typeface="Times New Roman" panose="02020603050405020304" pitchFamily="18" charset="0"/>
                <a:cs typeface="Times New Roman" panose="02020603050405020304" pitchFamily="18" charset="0"/>
              </a:rPr>
              <a:t>Literature Survey</a:t>
            </a:r>
          </a:p>
          <a:p>
            <a:pPr marL="285750" indent="-285750">
              <a:buFont typeface="Wingdings" panose="05000000000000000000" pitchFamily="2" charset="2"/>
              <a:buChar char="Ø"/>
            </a:pPr>
            <a:r>
              <a:rPr lang="en-US" sz="1800" b="1" dirty="0">
                <a:solidFill>
                  <a:srgbClr val="3B3026"/>
                </a:solidFill>
                <a:latin typeface="Times New Roman" panose="02020603050405020304" pitchFamily="18" charset="0"/>
                <a:cs typeface="Times New Roman" panose="02020603050405020304" pitchFamily="18" charset="0"/>
              </a:rPr>
              <a:t>Existing system</a:t>
            </a:r>
          </a:p>
          <a:p>
            <a:pPr marL="285750" indent="-285750">
              <a:buFont typeface="Wingdings" panose="05000000000000000000" pitchFamily="2" charset="2"/>
              <a:buChar char="Ø"/>
            </a:pPr>
            <a:r>
              <a:rPr lang="en-US" sz="1800" b="1" dirty="0">
                <a:solidFill>
                  <a:srgbClr val="3B3026"/>
                </a:solidFill>
                <a:latin typeface="Times New Roman" panose="02020603050405020304" pitchFamily="18" charset="0"/>
                <a:cs typeface="Times New Roman" panose="02020603050405020304" pitchFamily="18" charset="0"/>
              </a:rPr>
              <a:t>Problem Statement</a:t>
            </a:r>
          </a:p>
          <a:p>
            <a:pPr marL="285750" indent="-285750">
              <a:buFont typeface="Wingdings" panose="05000000000000000000" pitchFamily="2" charset="2"/>
              <a:buChar char="Ø"/>
            </a:pPr>
            <a:r>
              <a:rPr lang="en-US" sz="1800" b="1" dirty="0">
                <a:solidFill>
                  <a:srgbClr val="3B3026"/>
                </a:solidFill>
                <a:latin typeface="Times New Roman" panose="02020603050405020304" pitchFamily="18" charset="0"/>
                <a:cs typeface="Times New Roman" panose="02020603050405020304" pitchFamily="18" charset="0"/>
              </a:rPr>
              <a:t>Proposed system</a:t>
            </a:r>
          </a:p>
          <a:p>
            <a:pPr marL="285750" indent="-285750">
              <a:buFont typeface="Wingdings" panose="05000000000000000000" pitchFamily="2" charset="2"/>
              <a:buChar char="Ø"/>
            </a:pPr>
            <a:r>
              <a:rPr lang="en-US" sz="1800" b="1" dirty="0">
                <a:solidFill>
                  <a:srgbClr val="3B3026"/>
                </a:solidFill>
                <a:latin typeface="Times New Roman" panose="02020603050405020304" pitchFamily="18" charset="0"/>
                <a:cs typeface="Times New Roman" panose="02020603050405020304" pitchFamily="18" charset="0"/>
              </a:rPr>
              <a:t>Objectives</a:t>
            </a:r>
          </a:p>
          <a:p>
            <a:pPr marL="285750" indent="-285750">
              <a:buFont typeface="Wingdings" panose="05000000000000000000" pitchFamily="2" charset="2"/>
              <a:buChar char="Ø"/>
            </a:pPr>
            <a:r>
              <a:rPr lang="en-US" sz="1800" b="1" dirty="0">
                <a:solidFill>
                  <a:srgbClr val="3B3026"/>
                </a:solidFill>
                <a:latin typeface="Times New Roman" panose="02020603050405020304" pitchFamily="18" charset="0"/>
                <a:cs typeface="Times New Roman" panose="02020603050405020304" pitchFamily="18" charset="0"/>
              </a:rPr>
              <a:t>Methodology</a:t>
            </a:r>
          </a:p>
          <a:p>
            <a:pPr marL="285750" indent="-285750">
              <a:buFont typeface="Wingdings" panose="05000000000000000000" pitchFamily="2" charset="2"/>
              <a:buChar char="Ø"/>
            </a:pPr>
            <a:r>
              <a:rPr lang="en-US" sz="1800" b="1" dirty="0">
                <a:solidFill>
                  <a:srgbClr val="3B3026"/>
                </a:solidFill>
                <a:latin typeface="Times New Roman" panose="02020603050405020304" pitchFamily="18" charset="0"/>
                <a:cs typeface="Times New Roman" panose="02020603050405020304" pitchFamily="18" charset="0"/>
              </a:rPr>
              <a:t>Technologies</a:t>
            </a:r>
          </a:p>
          <a:p>
            <a:pPr marL="285750" indent="-285750">
              <a:buFont typeface="Wingdings" panose="05000000000000000000" pitchFamily="2" charset="2"/>
              <a:buChar char="Ø"/>
            </a:pPr>
            <a:r>
              <a:rPr lang="en-US" sz="1800" b="1" dirty="0">
                <a:solidFill>
                  <a:srgbClr val="3B3026"/>
                </a:solidFill>
                <a:latin typeface="Times New Roman" panose="02020603050405020304" pitchFamily="18" charset="0"/>
                <a:cs typeface="Times New Roman" panose="02020603050405020304" pitchFamily="18" charset="0"/>
              </a:rPr>
              <a:t>Results</a:t>
            </a:r>
          </a:p>
          <a:p>
            <a:endParaRPr lang="en-US" dirty="0"/>
          </a:p>
        </p:txBody>
      </p:sp>
      <p:sp>
        <p:nvSpPr>
          <p:cNvPr id="2" name="Title 1"/>
          <p:cNvSpPr>
            <a:spLocks noGrp="1"/>
          </p:cNvSpPr>
          <p:nvPr>
            <p:ph type="title" idx="4294967295"/>
          </p:nvPr>
        </p:nvSpPr>
        <p:spPr>
          <a:xfrm>
            <a:off x="393600" y="93021"/>
            <a:ext cx="10515600" cy="1325563"/>
          </a:xfrm>
        </p:spPr>
        <p:txBody>
          <a:bodyPr/>
          <a:lstStyle/>
          <a:p>
            <a:r>
              <a:rPr lang="en-US" b="1" dirty="0">
                <a:latin typeface="Times New Roman" panose="02020603050405020304" pitchFamily="18" charset="0"/>
                <a:cs typeface="Times New Roman" panose="02020603050405020304" pitchFamily="18" charset="0"/>
              </a:rPr>
              <a:t>Table of Contents</a:t>
            </a:r>
          </a:p>
        </p:txBody>
      </p:sp>
    </p:spTree>
    <p:extLst>
      <p:ext uri="{BB962C8B-B14F-4D97-AF65-F5344CB8AC3E}">
        <p14:creationId xmlns:p14="http://schemas.microsoft.com/office/powerpoint/2010/main" val="5499411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03250" y="1446213"/>
            <a:ext cx="10028750" cy="4827587"/>
          </a:xfrm>
        </p:spPr>
        <p:txBody>
          <a:bodyPr>
            <a:noAutofit/>
          </a:bodyPr>
          <a:lstStyle/>
          <a:p>
            <a:pPr algn="just"/>
            <a:r>
              <a:rPr lang="en-US" sz="1800" dirty="0">
                <a:latin typeface="Times New Roman" panose="02020603050405020304" pitchFamily="18" charset="0"/>
                <a:cs typeface="Times New Roman" panose="02020603050405020304" pitchFamily="18" charset="0"/>
              </a:rPr>
              <a:t>Freshwater bodies such as lakes, ponds, and reservoirs play a vital role in drinking water supply, agriculture, biodiversity, and climate balance.</a:t>
            </a:r>
          </a:p>
          <a:p>
            <a:pPr algn="just"/>
            <a:r>
              <a:rPr lang="en-US" sz="1800" dirty="0">
                <a:latin typeface="Times New Roman" panose="02020603050405020304" pitchFamily="18" charset="0"/>
                <a:cs typeface="Times New Roman" panose="02020603050405020304" pitchFamily="18" charset="0"/>
              </a:rPr>
              <a:t>Rapid urbanization, industrial discharge, and nutrient runoff have caused serious degradation of aquatic ecosystems.</a:t>
            </a:r>
          </a:p>
          <a:p>
            <a:pPr algn="just"/>
            <a:r>
              <a:rPr lang="en-US" sz="1800" dirty="0">
                <a:latin typeface="Times New Roman" panose="02020603050405020304" pitchFamily="18" charset="0"/>
                <a:cs typeface="Times New Roman" panose="02020603050405020304" pitchFamily="18" charset="0"/>
              </a:rPr>
              <a:t>One of the major consequences of this degradation is increased turbidity, reduced light penetration, and uncontrolled algal growth.</a:t>
            </a:r>
          </a:p>
          <a:p>
            <a:pPr algn="just"/>
            <a:r>
              <a:rPr lang="en-US" sz="1800" dirty="0">
                <a:latin typeface="Times New Roman" panose="02020603050405020304" pitchFamily="18" charset="0"/>
                <a:cs typeface="Times New Roman" panose="02020603050405020304" pitchFamily="18" charset="0"/>
              </a:rPr>
              <a:t>These changes disturb dissolved oxygen levels and negatively impact native aquatic species.</a:t>
            </a:r>
          </a:p>
          <a:p>
            <a:pPr algn="just"/>
            <a:r>
              <a:rPr lang="en-US" sz="1800" dirty="0">
                <a:latin typeface="Times New Roman" panose="02020603050405020304" pitchFamily="18" charset="0"/>
                <a:cs typeface="Times New Roman" panose="02020603050405020304" pitchFamily="18" charset="0"/>
              </a:rPr>
              <a:t>Existing monitoring methods are mostly manual, periodic, and unsustainable in nature.</a:t>
            </a:r>
          </a:p>
          <a:p>
            <a:pPr algn="just"/>
            <a:r>
              <a:rPr lang="en-US" sz="1800" dirty="0">
                <a:latin typeface="Times New Roman" panose="02020603050405020304" pitchFamily="18" charset="0"/>
                <a:cs typeface="Times New Roman" panose="02020603050405020304" pitchFamily="18" charset="0"/>
              </a:rPr>
              <a:t>Actions are usually taken only after visible damage occurs, which leads to irreversible ecosystem loss.</a:t>
            </a:r>
          </a:p>
          <a:p>
            <a:pPr algn="just"/>
            <a:r>
              <a:rPr lang="en-US" sz="1800" dirty="0">
                <a:latin typeface="Times New Roman" panose="02020603050405020304" pitchFamily="18" charset="0"/>
                <a:cs typeface="Times New Roman" panose="02020603050405020304" pitchFamily="18" charset="0"/>
              </a:rPr>
              <a:t>Many current solutions rely on chemical or mechanical removal techniques that can harm native species.</a:t>
            </a:r>
          </a:p>
          <a:p>
            <a:pPr algn="just"/>
            <a:r>
              <a:rPr lang="en-US" sz="1800" dirty="0">
                <a:latin typeface="Times New Roman" panose="02020603050405020304" pitchFamily="18" charset="0"/>
                <a:cs typeface="Times New Roman" panose="02020603050405020304" pitchFamily="18" charset="0"/>
              </a:rPr>
              <a:t>Hence, there is a strong need for a </a:t>
            </a:r>
            <a:r>
              <a:rPr lang="en-US" sz="1800" b="1" dirty="0">
                <a:latin typeface="Times New Roman" panose="02020603050405020304" pitchFamily="18" charset="0"/>
                <a:cs typeface="Times New Roman" panose="02020603050405020304" pitchFamily="18" charset="0"/>
              </a:rPr>
              <a:t>real‑time, continuous, and non‑destructive monitoring system</a:t>
            </a:r>
            <a:r>
              <a:rPr lang="en-US" sz="1800" dirty="0">
                <a:latin typeface="Times New Roman" panose="02020603050405020304" pitchFamily="18" charset="0"/>
                <a:cs typeface="Times New Roman" panose="02020603050405020304" pitchFamily="18" charset="0"/>
              </a:rPr>
              <a:t>.</a:t>
            </a:r>
          </a:p>
          <a:p>
            <a:pPr algn="just"/>
            <a:r>
              <a:rPr lang="en-US" sz="1800" dirty="0">
                <a:latin typeface="Times New Roman" panose="02020603050405020304" pitchFamily="18" charset="0"/>
                <a:cs typeface="Times New Roman" panose="02020603050405020304" pitchFamily="18" charset="0"/>
              </a:rPr>
              <a:t>The proposed project introduces an </a:t>
            </a:r>
            <a:r>
              <a:rPr lang="en-US" sz="1800" b="1" dirty="0">
                <a:latin typeface="Times New Roman" panose="02020603050405020304" pitchFamily="18" charset="0"/>
                <a:cs typeface="Times New Roman" panose="02020603050405020304" pitchFamily="18" charset="0"/>
              </a:rPr>
              <a:t>IoT‑based monitoring system using ESP32 and environmental sensors</a:t>
            </a:r>
            <a:r>
              <a:rPr lang="en-US" sz="1800" dirty="0">
                <a:latin typeface="Times New Roman" panose="02020603050405020304" pitchFamily="18" charset="0"/>
                <a:cs typeface="Times New Roman" panose="02020603050405020304" pitchFamily="18" charset="0"/>
              </a:rPr>
              <a:t>.</a:t>
            </a:r>
          </a:p>
          <a:p>
            <a:pPr algn="just"/>
            <a:r>
              <a:rPr lang="en-US" sz="1800" dirty="0">
                <a:latin typeface="Times New Roman" panose="02020603050405020304" pitchFamily="18" charset="0"/>
                <a:cs typeface="Times New Roman" panose="02020603050405020304" pitchFamily="18" charset="0"/>
              </a:rPr>
              <a:t>The system focuses on </a:t>
            </a:r>
            <a:r>
              <a:rPr lang="en-US" sz="1800" b="1" dirty="0">
                <a:latin typeface="Times New Roman" panose="02020603050405020304" pitchFamily="18" charset="0"/>
                <a:cs typeface="Times New Roman" panose="02020603050405020304" pitchFamily="18" charset="0"/>
              </a:rPr>
              <a:t>early detection of ecosystem imbalance</a:t>
            </a:r>
            <a:r>
              <a:rPr lang="en-US" sz="1800" dirty="0">
                <a:latin typeface="Times New Roman" panose="02020603050405020304" pitchFamily="18" charset="0"/>
                <a:cs typeface="Times New Roman" panose="02020603050405020304" pitchFamily="18" charset="0"/>
              </a:rPr>
              <a:t> and supports </a:t>
            </a:r>
            <a:r>
              <a:rPr lang="en-US" sz="1800" b="1" dirty="0">
                <a:latin typeface="Times New Roman" panose="02020603050405020304" pitchFamily="18" charset="0"/>
                <a:cs typeface="Times New Roman" panose="02020603050405020304" pitchFamily="18" charset="0"/>
              </a:rPr>
              <a:t>sustainable, eco‑friendly intervention methods</a:t>
            </a:r>
            <a:r>
              <a:rPr lang="en-US" sz="1800" dirty="0">
                <a:latin typeface="Times New Roman" panose="02020603050405020304" pitchFamily="18" charset="0"/>
                <a:cs typeface="Times New Roman" panose="02020603050405020304" pitchFamily="18" charset="0"/>
              </a:rPr>
              <a:t>.</a:t>
            </a:r>
          </a:p>
          <a:p>
            <a:pPr algn="just"/>
            <a:endParaRPr lang="en-US" sz="1800" dirty="0">
              <a:latin typeface="Times New Roman" panose="02020603050405020304" pitchFamily="18" charset="0"/>
              <a:cs typeface="Times New Roman" panose="02020603050405020304" pitchFamily="18" charset="0"/>
            </a:endParaRPr>
          </a:p>
          <a:p>
            <a:pPr algn="just"/>
            <a:endParaRPr lang="en-US" sz="1800" dirty="0"/>
          </a:p>
        </p:txBody>
      </p:sp>
      <p:sp>
        <p:nvSpPr>
          <p:cNvPr id="2" name="Title 1"/>
          <p:cNvSpPr>
            <a:spLocks noGrp="1"/>
          </p:cNvSpPr>
          <p:nvPr>
            <p:ph type="title" idx="4294967295"/>
          </p:nvPr>
        </p:nvSpPr>
        <p:spPr>
          <a:xfrm>
            <a:off x="393600" y="137409"/>
            <a:ext cx="10515600" cy="1325563"/>
          </a:xfrm>
        </p:spPr>
        <p:txBody>
          <a:bodyPr/>
          <a:lstStyle/>
          <a:p>
            <a:r>
              <a:rPr lang="en-US" b="1" dirty="0">
                <a:latin typeface="Times New Roman" panose="02020603050405020304" pitchFamily="18" charset="0"/>
                <a:cs typeface="Times New Roman" panose="02020603050405020304" pitchFamily="18" charset="0"/>
              </a:rPr>
              <a:t>Introduction</a:t>
            </a:r>
          </a:p>
        </p:txBody>
      </p:sp>
    </p:spTree>
    <p:extLst>
      <p:ext uri="{BB962C8B-B14F-4D97-AF65-F5344CB8AC3E}">
        <p14:creationId xmlns:p14="http://schemas.microsoft.com/office/powerpoint/2010/main" val="871884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64000" y="2569"/>
            <a:ext cx="10515600" cy="1325563"/>
          </a:xfrm>
        </p:spPr>
        <p:txBody>
          <a:bodyPr>
            <a:normAutofit/>
          </a:bodyPr>
          <a:lstStyle/>
          <a:p>
            <a:r>
              <a:rPr lang="en-US" b="1" dirty="0">
                <a:latin typeface="Times New Roman" panose="02020603050405020304" pitchFamily="18" charset="0"/>
                <a:cs typeface="Times New Roman" panose="02020603050405020304" pitchFamily="18" charset="0"/>
              </a:rPr>
              <a:t>Literature Survey</a:t>
            </a:r>
            <a:r>
              <a:rPr lang="en-US" sz="2000" b="1" dirty="0">
                <a:latin typeface="Times New Roman" panose="02020603050405020304" pitchFamily="18" charset="0"/>
                <a:cs typeface="Times New Roman" panose="02020603050405020304" pitchFamily="18" charset="0"/>
              </a:rPr>
              <a:t> (List the reference papers in year-wise order, starting with the most recent year first, followed by earlier years.)</a:t>
            </a:r>
          </a:p>
        </p:txBody>
      </p:sp>
      <p:graphicFrame>
        <p:nvGraphicFramePr>
          <p:cNvPr id="4" name="Table 3"/>
          <p:cNvGraphicFramePr>
            <a:graphicFrameLocks noGrp="1"/>
          </p:cNvGraphicFramePr>
          <p:nvPr>
            <p:extLst>
              <p:ext uri="{D42A27DB-BD31-4B8C-83A1-F6EECF244321}">
                <p14:modId xmlns:p14="http://schemas.microsoft.com/office/powerpoint/2010/main" val="831224728"/>
              </p:ext>
            </p:extLst>
          </p:nvPr>
        </p:nvGraphicFramePr>
        <p:xfrm>
          <a:off x="134400" y="1297981"/>
          <a:ext cx="11793600" cy="4557822"/>
        </p:xfrm>
        <a:graphic>
          <a:graphicData uri="http://schemas.openxmlformats.org/drawingml/2006/table">
            <a:tbl>
              <a:tblPr firstRow="1" bandRow="1">
                <a:tableStyleId>{C4B1156A-380E-4F78-BDF5-A606A8083BF9}</a:tableStyleId>
              </a:tblPr>
              <a:tblGrid>
                <a:gridCol w="627816">
                  <a:extLst>
                    <a:ext uri="{9D8B030D-6E8A-4147-A177-3AD203B41FA5}">
                      <a16:colId xmlns:a16="http://schemas.microsoft.com/office/drawing/2014/main" val="20000"/>
                    </a:ext>
                  </a:extLst>
                </a:gridCol>
                <a:gridCol w="3300188">
                  <a:extLst>
                    <a:ext uri="{9D8B030D-6E8A-4147-A177-3AD203B41FA5}">
                      <a16:colId xmlns:a16="http://schemas.microsoft.com/office/drawing/2014/main" val="20001"/>
                    </a:ext>
                  </a:extLst>
                </a:gridCol>
                <a:gridCol w="1977476">
                  <a:extLst>
                    <a:ext uri="{9D8B030D-6E8A-4147-A177-3AD203B41FA5}">
                      <a16:colId xmlns:a16="http://schemas.microsoft.com/office/drawing/2014/main" val="20002"/>
                    </a:ext>
                  </a:extLst>
                </a:gridCol>
                <a:gridCol w="1968493">
                  <a:extLst>
                    <a:ext uri="{9D8B030D-6E8A-4147-A177-3AD203B41FA5}">
                      <a16:colId xmlns:a16="http://schemas.microsoft.com/office/drawing/2014/main" val="20003"/>
                    </a:ext>
                  </a:extLst>
                </a:gridCol>
                <a:gridCol w="1968493">
                  <a:extLst>
                    <a:ext uri="{9D8B030D-6E8A-4147-A177-3AD203B41FA5}">
                      <a16:colId xmlns:a16="http://schemas.microsoft.com/office/drawing/2014/main" val="20004"/>
                    </a:ext>
                  </a:extLst>
                </a:gridCol>
                <a:gridCol w="1951134">
                  <a:extLst>
                    <a:ext uri="{9D8B030D-6E8A-4147-A177-3AD203B41FA5}">
                      <a16:colId xmlns:a16="http://schemas.microsoft.com/office/drawing/2014/main" val="20005"/>
                    </a:ext>
                  </a:extLst>
                </a:gridCol>
              </a:tblGrid>
              <a:tr h="506497">
                <a:tc>
                  <a:txBody>
                    <a:bodyPr/>
                    <a:lstStyle/>
                    <a:p>
                      <a:pPr algn="just"/>
                      <a:r>
                        <a:rPr lang="en-US" sz="1600" dirty="0"/>
                        <a:t>S.No</a:t>
                      </a:r>
                      <a:endParaRPr lang="en-IN" sz="16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dirty="0"/>
                        <a:t>Tittle</a:t>
                      </a:r>
                      <a:r>
                        <a:rPr lang="en-US" sz="1600" baseline="0" dirty="0"/>
                        <a:t> of the Journal with </a:t>
                      </a:r>
                      <a:r>
                        <a:rPr lang="en-US" sz="1600" dirty="0"/>
                        <a:t>Published</a:t>
                      </a:r>
                    </a:p>
                    <a:p>
                      <a:pPr algn="just"/>
                      <a:r>
                        <a:rPr lang="en-US" sz="1600" dirty="0"/>
                        <a:t>Year</a:t>
                      </a:r>
                      <a:endParaRPr lang="en-IN" sz="16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dirty="0"/>
                        <a:t>Author’s</a:t>
                      </a:r>
                      <a:endParaRPr lang="en-IN" sz="16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dirty="0"/>
                        <a:t>Method</a:t>
                      </a:r>
                      <a:endParaRPr lang="en-IN" sz="16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dirty="0"/>
                        <a:t>Outcomes</a:t>
                      </a:r>
                      <a:endParaRPr lang="en-IN" sz="16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dirty="0"/>
                        <a:t>Limitations</a:t>
                      </a:r>
                      <a:endParaRPr lang="en-IN" sz="16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826389">
                <a:tc>
                  <a:txBody>
                    <a:bodyPr/>
                    <a:lstStyle/>
                    <a:p>
                      <a:pPr algn="just"/>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b="0" i="0" kern="1200" dirty="0">
                          <a:solidFill>
                            <a:schemeClr val="dk1"/>
                          </a:solidFill>
                          <a:effectLst/>
                          <a:latin typeface="+mn-lt"/>
                          <a:ea typeface="+mn-ea"/>
                          <a:cs typeface="+mn-cs"/>
                        </a:rPr>
                        <a:t>AI‑Enabled IoT Framework for Real‑Time Water Quality Monitoring</a:t>
                      </a:r>
                      <a:endParaRPr lang="en-IN" sz="16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IN" sz="1400" b="0" i="0" kern="1200" dirty="0">
                          <a:solidFill>
                            <a:schemeClr val="dk1"/>
                          </a:solidFill>
                          <a:effectLst/>
                          <a:latin typeface="+mn-lt"/>
                          <a:ea typeface="+mn-ea"/>
                          <a:cs typeface="+mn-cs"/>
                        </a:rPr>
                        <a:t>Lokman et al.</a:t>
                      </a:r>
                      <a:endParaRPr lang="en-IN"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400" b="0" i="0" kern="1200" dirty="0">
                          <a:solidFill>
                            <a:schemeClr val="dk1"/>
                          </a:solidFill>
                          <a:effectLst/>
                          <a:latin typeface="+mn-lt"/>
                          <a:ea typeface="+mn-ea"/>
                          <a:cs typeface="+mn-cs"/>
                        </a:rPr>
                        <a:t>Multi‑sensor IoT system with AI‑based anomaly detection.</a:t>
                      </a:r>
                      <a:endParaRPr lang="en-IN"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400" b="0" i="0" kern="1200" dirty="0">
                          <a:solidFill>
                            <a:schemeClr val="dk1"/>
                          </a:solidFill>
                          <a:effectLst/>
                          <a:latin typeface="+mn-lt"/>
                          <a:ea typeface="+mn-ea"/>
                          <a:cs typeface="+mn-cs"/>
                        </a:rPr>
                        <a:t>Enabled early contamination detection and intelligent monitoring.</a:t>
                      </a:r>
                      <a:endParaRPr lang="en-IN"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400" b="0" i="0" kern="1200" dirty="0">
                          <a:solidFill>
                            <a:schemeClr val="dk1"/>
                          </a:solidFill>
                          <a:effectLst/>
                          <a:latin typeface="+mn-lt"/>
                          <a:ea typeface="+mn-ea"/>
                          <a:cs typeface="+mn-cs"/>
                        </a:rPr>
                        <a:t>Requires higher computational resources and cloud connectivity.</a:t>
                      </a:r>
                      <a:endParaRPr lang="en-IN"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739671">
                <a:tc>
                  <a:txBody>
                    <a:bodyPr/>
                    <a:lstStyle/>
                    <a:p>
                      <a:pPr algn="just"/>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IN" sz="1600" b="0" i="0" kern="1200" dirty="0">
                          <a:solidFill>
                            <a:schemeClr val="dk1"/>
                          </a:solidFill>
                          <a:effectLst/>
                          <a:latin typeface="+mn-lt"/>
                          <a:ea typeface="+mn-ea"/>
                          <a:cs typeface="+mn-cs"/>
                        </a:rPr>
                        <a:t>Multi‑Sensor IoT Architecture for Environmental Monitoring</a:t>
                      </a:r>
                      <a:endParaRPr lang="en-IN" sz="16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IN" sz="1400" b="0" i="0" kern="1200" dirty="0">
                          <a:solidFill>
                            <a:schemeClr val="dk1"/>
                          </a:solidFill>
                          <a:effectLst/>
                          <a:latin typeface="+mn-lt"/>
                          <a:ea typeface="+mn-ea"/>
                          <a:cs typeface="+mn-cs"/>
                        </a:rPr>
                        <a:t>Wang et al.</a:t>
                      </a:r>
                      <a:endParaRPr lang="en-IN"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400" b="0" i="0" kern="1200" dirty="0">
                          <a:solidFill>
                            <a:schemeClr val="dk1"/>
                          </a:solidFill>
                          <a:effectLst/>
                          <a:latin typeface="+mn-lt"/>
                          <a:ea typeface="+mn-ea"/>
                          <a:cs typeface="+mn-cs"/>
                        </a:rPr>
                        <a:t>Sensor fusion using ESP‑based microcontrollers.</a:t>
                      </a:r>
                      <a:endParaRPr lang="en-IN"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400" b="0" i="0" kern="1200" dirty="0">
                          <a:solidFill>
                            <a:schemeClr val="dk1"/>
                          </a:solidFill>
                          <a:effectLst/>
                          <a:latin typeface="+mn-lt"/>
                          <a:ea typeface="+mn-ea"/>
                          <a:cs typeface="+mn-cs"/>
                        </a:rPr>
                        <a:t>Improved real‑time environmental parameter monitoring.</a:t>
                      </a:r>
                      <a:endParaRPr lang="en-IN"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400" b="0" i="0" kern="1200" dirty="0">
                          <a:solidFill>
                            <a:schemeClr val="dk1"/>
                          </a:solidFill>
                          <a:effectLst/>
                          <a:latin typeface="+mn-lt"/>
                          <a:ea typeface="+mn-ea"/>
                          <a:cs typeface="+mn-cs"/>
                        </a:rPr>
                        <a:t>Limited validation for large ecosystems.</a:t>
                      </a:r>
                      <a:endParaRPr lang="en-IN"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719759">
                <a:tc>
                  <a:txBody>
                    <a:bodyPr/>
                    <a:lstStyle/>
                    <a:p>
                      <a:pPr algn="just"/>
                      <a:r>
                        <a:rPr lang="en-IN"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b="0" i="0" kern="1200" dirty="0">
                          <a:solidFill>
                            <a:schemeClr val="dk1"/>
                          </a:solidFill>
                          <a:effectLst/>
                          <a:latin typeface="+mn-lt"/>
                          <a:ea typeface="+mn-ea"/>
                          <a:cs typeface="+mn-cs"/>
                        </a:rPr>
                        <a:t>Machine Learning for Algal Bloom Prediction Using Water Quality Sensors</a:t>
                      </a:r>
                      <a:endParaRPr lang="en-IN" sz="16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IN" sz="1400" b="0" i="0" kern="1200" dirty="0">
                          <a:solidFill>
                            <a:schemeClr val="dk1"/>
                          </a:solidFill>
                          <a:effectLst/>
                          <a:latin typeface="+mn-lt"/>
                          <a:ea typeface="+mn-ea"/>
                          <a:cs typeface="+mn-cs"/>
                        </a:rPr>
                        <a:t>Xia et al.</a:t>
                      </a:r>
                      <a:endParaRPr lang="en-IN"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400" b="0" i="0" kern="1200" dirty="0">
                          <a:solidFill>
                            <a:schemeClr val="dk1"/>
                          </a:solidFill>
                          <a:effectLst/>
                          <a:latin typeface="+mn-lt"/>
                          <a:ea typeface="+mn-ea"/>
                          <a:cs typeface="+mn-cs"/>
                        </a:rPr>
                        <a:t>ML models trained on turbidity and environmental data.</a:t>
                      </a:r>
                      <a:endParaRPr lang="en-IN"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400" b="0" i="0" kern="1200" dirty="0">
                          <a:solidFill>
                            <a:schemeClr val="dk1"/>
                          </a:solidFill>
                          <a:effectLst/>
                          <a:latin typeface="+mn-lt"/>
                          <a:ea typeface="+mn-ea"/>
                          <a:cs typeface="+mn-cs"/>
                        </a:rPr>
                        <a:t>Early prediction of harmful algal bloom conditions.</a:t>
                      </a:r>
                      <a:endParaRPr lang="en-IN"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400" b="0" i="0" kern="1200" dirty="0">
                          <a:solidFill>
                            <a:schemeClr val="dk1"/>
                          </a:solidFill>
                          <a:effectLst/>
                          <a:latin typeface="+mn-lt"/>
                          <a:ea typeface="+mn-ea"/>
                          <a:cs typeface="+mn-cs"/>
                        </a:rPr>
                        <a:t>Requires historical dataset for accurate prediction.</a:t>
                      </a:r>
                      <a:endParaRPr lang="en-IN"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739671">
                <a:tc>
                  <a:txBody>
                    <a:bodyPr/>
                    <a:lstStyle/>
                    <a:p>
                      <a:pPr algn="just"/>
                      <a:r>
                        <a:rPr lang="en-IN"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b="0" i="0" kern="1200" dirty="0">
                          <a:solidFill>
                            <a:schemeClr val="dk1"/>
                          </a:solidFill>
                          <a:effectLst/>
                          <a:latin typeface="+mn-lt"/>
                          <a:ea typeface="+mn-ea"/>
                          <a:cs typeface="+mn-cs"/>
                        </a:rPr>
                        <a:t>Low‑Cost IoT Water Quality Monitoring System Using ESP32</a:t>
                      </a:r>
                      <a:endParaRPr lang="en-IN" sz="16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IN" sz="1400" b="0" i="0" kern="1200" dirty="0">
                          <a:solidFill>
                            <a:schemeClr val="dk1"/>
                          </a:solidFill>
                          <a:effectLst/>
                          <a:latin typeface="+mn-lt"/>
                          <a:ea typeface="+mn-ea"/>
                          <a:cs typeface="+mn-cs"/>
                        </a:rPr>
                        <a:t>Rahman et al.</a:t>
                      </a:r>
                      <a:endParaRPr lang="en-IN"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400" b="0" i="0" kern="1200" dirty="0">
                          <a:solidFill>
                            <a:schemeClr val="dk1"/>
                          </a:solidFill>
                          <a:effectLst/>
                          <a:latin typeface="+mn-lt"/>
                          <a:ea typeface="+mn-ea"/>
                          <a:cs typeface="+mn-cs"/>
                        </a:rPr>
                        <a:t>ESP32 integrated with turbidity, temperature, and pH sensors.</a:t>
                      </a:r>
                      <a:endParaRPr lang="en-IN"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400" b="0" i="0" kern="1200" dirty="0">
                          <a:solidFill>
                            <a:schemeClr val="dk1"/>
                          </a:solidFill>
                          <a:effectLst/>
                          <a:latin typeface="+mn-lt"/>
                          <a:ea typeface="+mn-ea"/>
                          <a:cs typeface="+mn-cs"/>
                        </a:rPr>
                        <a:t>Demonstrated affordable real‑time monitoring prototype.</a:t>
                      </a:r>
                      <a:endParaRPr lang="en-IN"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IN" sz="1400" b="0" i="0" kern="1200" dirty="0">
                          <a:solidFill>
                            <a:schemeClr val="dk1"/>
                          </a:solidFill>
                          <a:effectLst/>
                          <a:latin typeface="+mn-lt"/>
                          <a:ea typeface="+mn-ea"/>
                          <a:cs typeface="+mn-cs"/>
                        </a:rPr>
                        <a:t>Small‑scale implementation only</a:t>
                      </a:r>
                      <a:endParaRPr lang="en-IN"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639785">
                <a:tc>
                  <a:txBody>
                    <a:bodyPr/>
                    <a:lstStyle/>
                    <a:p>
                      <a:pPr algn="just"/>
                      <a:r>
                        <a:rPr lang="en-IN"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600" b="0" i="0" kern="1200" dirty="0">
                          <a:solidFill>
                            <a:schemeClr val="dk1"/>
                          </a:solidFill>
                          <a:effectLst/>
                          <a:latin typeface="+mn-lt"/>
                          <a:ea typeface="+mn-ea"/>
                          <a:cs typeface="+mn-cs"/>
                        </a:rPr>
                        <a:t>IoT‑Based Smart Water Quality Monitoring System</a:t>
                      </a:r>
                      <a:endParaRPr lang="en-IN" sz="16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IN" sz="1400" b="0" i="0" kern="1200" dirty="0">
                          <a:solidFill>
                            <a:schemeClr val="dk1"/>
                          </a:solidFill>
                          <a:effectLst/>
                          <a:latin typeface="+mn-lt"/>
                          <a:ea typeface="+mn-ea"/>
                          <a:cs typeface="+mn-cs"/>
                        </a:rPr>
                        <a:t>Sharma et al.</a:t>
                      </a:r>
                      <a:endParaRPr lang="en-IN"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IN" sz="1400" b="0" i="0" kern="1200" dirty="0">
                          <a:solidFill>
                            <a:schemeClr val="dk1"/>
                          </a:solidFill>
                          <a:effectLst/>
                          <a:latin typeface="+mn-lt"/>
                          <a:ea typeface="+mn-ea"/>
                          <a:cs typeface="+mn-cs"/>
                        </a:rPr>
                        <a:t>Multi‑sensor monitoring using Arduino/ESP systems.</a:t>
                      </a:r>
                      <a:endParaRPr lang="en-IN"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400" b="0" i="0" kern="1200" dirty="0">
                          <a:solidFill>
                            <a:schemeClr val="dk1"/>
                          </a:solidFill>
                          <a:effectLst/>
                          <a:latin typeface="+mn-lt"/>
                          <a:ea typeface="+mn-ea"/>
                          <a:cs typeface="+mn-cs"/>
                        </a:rPr>
                        <a:t>Continuous remote monitoring of water parameters.</a:t>
                      </a:r>
                      <a:endParaRPr lang="en-IN"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400" b="0" i="0" kern="1200" dirty="0">
                          <a:solidFill>
                            <a:schemeClr val="dk1"/>
                          </a:solidFill>
                          <a:effectLst/>
                          <a:latin typeface="+mn-lt"/>
                          <a:ea typeface="+mn-ea"/>
                          <a:cs typeface="+mn-cs"/>
                        </a:rPr>
                        <a:t>No predictive or automated control mechanism</a:t>
                      </a:r>
                      <a:endParaRPr lang="en-IN"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279387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03250" y="1446213"/>
            <a:ext cx="11588750" cy="4827587"/>
          </a:xfrm>
        </p:spPr>
        <p:txBody>
          <a:bodyPr>
            <a:normAutofit/>
          </a:bodyPr>
          <a:lstStyle/>
          <a:p>
            <a:pPr algn="just"/>
            <a:r>
              <a:rPr lang="en-US" sz="2000" dirty="0">
                <a:latin typeface="Times New Roman" panose="02020603050405020304" pitchFamily="18" charset="0"/>
                <a:cs typeface="Times New Roman" panose="02020603050405020304" pitchFamily="18" charset="0"/>
              </a:rPr>
              <a:t>The existing water quality monitoring systems rely mainly on manual sampling or laboratory testing. These methods are time‑consuming, expensive, and provide delayed results. In some cases, chemical treatments are used to control algae or pollution, which can unintentionally harm native aquatic organisms.</a:t>
            </a:r>
          </a:p>
          <a:p>
            <a:pPr algn="just"/>
            <a:r>
              <a:rPr lang="en-US" sz="2000" b="1" dirty="0">
                <a:latin typeface="Times New Roman" panose="02020603050405020304" pitchFamily="18" charset="0"/>
                <a:cs typeface="Times New Roman" panose="02020603050405020304" pitchFamily="18" charset="0"/>
              </a:rPr>
              <a:t>Technologies Used:</a:t>
            </a:r>
          </a:p>
          <a:p>
            <a:pPr algn="just"/>
            <a:r>
              <a:rPr lang="en-US" sz="2000" dirty="0">
                <a:latin typeface="Times New Roman" panose="02020603050405020304" pitchFamily="18" charset="0"/>
                <a:cs typeface="Times New Roman" panose="02020603050405020304" pitchFamily="18" charset="0"/>
              </a:rPr>
              <a:t>Manual sensors</a:t>
            </a:r>
          </a:p>
          <a:p>
            <a:pPr algn="just"/>
            <a:r>
              <a:rPr lang="en-US" sz="2000" dirty="0">
                <a:latin typeface="Times New Roman" panose="02020603050405020304" pitchFamily="18" charset="0"/>
                <a:cs typeface="Times New Roman" panose="02020603050405020304" pitchFamily="18" charset="0"/>
              </a:rPr>
              <a:t>Periodic lab analysis</a:t>
            </a:r>
          </a:p>
          <a:p>
            <a:pPr algn="just"/>
            <a:r>
              <a:rPr lang="en-US" sz="2000" dirty="0">
                <a:latin typeface="Times New Roman" panose="02020603050405020304" pitchFamily="18" charset="0"/>
                <a:cs typeface="Times New Roman" panose="02020603050405020304" pitchFamily="18" charset="0"/>
              </a:rPr>
              <a:t>Chemical‑based intervention</a:t>
            </a:r>
          </a:p>
          <a:p>
            <a:pPr algn="just"/>
            <a:r>
              <a:rPr lang="en-US" sz="2000" b="1" dirty="0">
                <a:latin typeface="Times New Roman" panose="02020603050405020304" pitchFamily="18" charset="0"/>
                <a:cs typeface="Times New Roman" panose="02020603050405020304" pitchFamily="18" charset="0"/>
              </a:rPr>
              <a:t>Limitations:</a:t>
            </a:r>
          </a:p>
          <a:p>
            <a:pPr algn="just"/>
            <a:r>
              <a:rPr lang="en-US" sz="2000" dirty="0">
                <a:latin typeface="Times New Roman" panose="02020603050405020304" pitchFamily="18" charset="0"/>
                <a:cs typeface="Times New Roman" panose="02020603050405020304" pitchFamily="18" charset="0"/>
              </a:rPr>
              <a:t>No real‑time monitoring</a:t>
            </a:r>
          </a:p>
          <a:p>
            <a:pPr algn="just"/>
            <a:r>
              <a:rPr lang="en-US" sz="2000" dirty="0">
                <a:latin typeface="Times New Roman" panose="02020603050405020304" pitchFamily="18" charset="0"/>
                <a:cs typeface="Times New Roman" panose="02020603050405020304" pitchFamily="18" charset="0"/>
              </a:rPr>
              <a:t>Late detection of ecological imbalance</a:t>
            </a:r>
          </a:p>
          <a:p>
            <a:pPr algn="just"/>
            <a:r>
              <a:rPr lang="en-US" sz="2000" dirty="0">
                <a:latin typeface="Times New Roman" panose="02020603050405020304" pitchFamily="18" charset="0"/>
                <a:cs typeface="Times New Roman" panose="02020603050405020304" pitchFamily="18" charset="0"/>
              </a:rPr>
              <a:t>Destructive impact on native species</a:t>
            </a:r>
          </a:p>
          <a:p>
            <a:pPr algn="just"/>
            <a:r>
              <a:rPr lang="en-US" sz="2000" dirty="0">
                <a:latin typeface="Times New Roman" panose="02020603050405020304" pitchFamily="18" charset="0"/>
                <a:cs typeface="Times New Roman" panose="02020603050405020304" pitchFamily="18" charset="0"/>
              </a:rPr>
              <a:t>High operational cost</a:t>
            </a:r>
          </a:p>
          <a:p>
            <a:pPr marL="0" indent="0" algn="just">
              <a:buNone/>
            </a:pPr>
            <a:endParaRPr lang="en-US" sz="2000" dirty="0"/>
          </a:p>
        </p:txBody>
      </p:sp>
      <p:sp>
        <p:nvSpPr>
          <p:cNvPr id="2" name="Title 1"/>
          <p:cNvSpPr>
            <a:spLocks noGrp="1"/>
          </p:cNvSpPr>
          <p:nvPr>
            <p:ph type="title" idx="4294967295"/>
          </p:nvPr>
        </p:nvSpPr>
        <p:spPr>
          <a:xfrm>
            <a:off x="393600" y="120650"/>
            <a:ext cx="10515600" cy="1325563"/>
          </a:xfrm>
        </p:spPr>
        <p:txBody>
          <a:bodyPr>
            <a:normAutofit/>
          </a:bodyPr>
          <a:lstStyle/>
          <a:p>
            <a:r>
              <a:rPr lang="en-US" b="1" dirty="0">
                <a:latin typeface="Times New Roman" panose="02020603050405020304" pitchFamily="18" charset="0"/>
                <a:cs typeface="Times New Roman" panose="02020603050405020304" pitchFamily="18" charset="0"/>
              </a:rPr>
              <a:t>Existing system</a:t>
            </a:r>
          </a:p>
        </p:txBody>
      </p:sp>
    </p:spTree>
    <p:extLst>
      <p:ext uri="{BB962C8B-B14F-4D97-AF65-F5344CB8AC3E}">
        <p14:creationId xmlns:p14="http://schemas.microsoft.com/office/powerpoint/2010/main" val="903116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03250" y="1446213"/>
            <a:ext cx="11195150" cy="4827587"/>
          </a:xfrm>
        </p:spPr>
        <p:txBody>
          <a:bodyPr>
            <a:normAutofit/>
          </a:bodyPr>
          <a:lstStyle/>
          <a:p>
            <a:pPr marL="0" indent="0" algn="just">
              <a:buNone/>
            </a:pPr>
            <a:r>
              <a:rPr lang="en-US" sz="3200" dirty="0">
                <a:latin typeface="Times New Roman" panose="02020603050405020304" pitchFamily="18" charset="0"/>
                <a:cs typeface="Times New Roman" panose="02020603050405020304" pitchFamily="18" charset="0"/>
              </a:rPr>
              <a:t>Freshwater ecosystems are increasingly threatened due to the absence of continuous, real‑time monitoring systems, resulting in late detection of water quality degradation. Existing solutions are mostly reactive and often involve destructive interventions that harm native species. Therefore, there is a need for a sustainable, real‑time, and non‑destructive monitoring system to identify early signs of ecosystem imbalance and support eco‑friendly corrective actions.</a:t>
            </a:r>
          </a:p>
          <a:p>
            <a:pPr marL="0" indent="0" algn="just">
              <a:buNone/>
            </a:pPr>
            <a:br>
              <a:rPr lang="en-US" sz="3200" dirty="0">
                <a:latin typeface="Times New Roman" panose="02020603050405020304" pitchFamily="18" charset="0"/>
                <a:cs typeface="Times New Roman" panose="02020603050405020304" pitchFamily="18" charset="0"/>
              </a:rPr>
            </a:br>
            <a:endParaRPr lang="en-US" sz="3200" dirty="0">
              <a:solidFill>
                <a:schemeClr val="tx1"/>
              </a:solidFill>
              <a:latin typeface="Times New Roman" panose="02020603050405020304" pitchFamily="18" charset="0"/>
              <a:cs typeface="Times New Roman" panose="02020603050405020304" pitchFamily="18" charset="0"/>
            </a:endParaRPr>
          </a:p>
        </p:txBody>
      </p:sp>
      <p:sp>
        <p:nvSpPr>
          <p:cNvPr id="2" name="Title 1"/>
          <p:cNvSpPr>
            <a:spLocks noGrp="1"/>
          </p:cNvSpPr>
          <p:nvPr>
            <p:ph type="title" idx="4294967295"/>
          </p:nvPr>
        </p:nvSpPr>
        <p:spPr>
          <a:xfrm>
            <a:off x="393600" y="189000"/>
            <a:ext cx="10515600" cy="1325563"/>
          </a:xfrm>
        </p:spPr>
        <p:txBody>
          <a:bodyPr>
            <a:normAutofit/>
          </a:bodyPr>
          <a:lstStyle/>
          <a:p>
            <a:r>
              <a:rPr lang="en-US" b="1" dirty="0">
                <a:latin typeface="Times New Roman" panose="02020603050405020304" pitchFamily="18" charset="0"/>
                <a:cs typeface="Times New Roman" panose="02020603050405020304" pitchFamily="18" charset="0"/>
              </a:rPr>
              <a:t>Problem statement</a:t>
            </a:r>
          </a:p>
        </p:txBody>
      </p:sp>
    </p:spTree>
    <p:extLst>
      <p:ext uri="{BB962C8B-B14F-4D97-AF65-F5344CB8AC3E}">
        <p14:creationId xmlns:p14="http://schemas.microsoft.com/office/powerpoint/2010/main" val="15012560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03250" y="1446213"/>
            <a:ext cx="11588750" cy="4827587"/>
          </a:xfrm>
        </p:spPr>
        <p:txBody>
          <a:bodyPr>
            <a:normAutofit/>
          </a:bodyPr>
          <a:lstStyle/>
          <a:p>
            <a:pPr algn="just"/>
            <a:r>
              <a:rPr lang="en-US" sz="2000" dirty="0">
                <a:latin typeface="Times New Roman" panose="02020603050405020304" pitchFamily="18" charset="0"/>
                <a:cs typeface="Times New Roman" panose="02020603050405020304" pitchFamily="18" charset="0"/>
              </a:rPr>
              <a:t>The proposed system is an </a:t>
            </a:r>
            <a:r>
              <a:rPr lang="en-US" sz="2000" b="1" dirty="0"/>
              <a:t> </a:t>
            </a:r>
            <a:r>
              <a:rPr lang="en-US" sz="2000" b="1" dirty="0">
                <a:latin typeface="Times New Roman" panose="02020603050405020304" pitchFamily="18" charset="0"/>
                <a:cs typeface="Times New Roman" panose="02020603050405020304" pitchFamily="18" charset="0"/>
              </a:rPr>
              <a:t>IoT‑Based Intelligent System for Real‑Time Aquatic Ecosystem Monitoring</a:t>
            </a:r>
            <a:r>
              <a:rPr lang="en-US" sz="2000" dirty="0">
                <a:latin typeface="Times New Roman" panose="02020603050405020304" pitchFamily="18" charset="0"/>
                <a:cs typeface="Times New Roman" panose="02020603050405020304" pitchFamily="18" charset="0"/>
              </a:rPr>
              <a:t> that uses multiple sensors connected to an ESP32 microcontroller to continuously monitor turbidity, light penetration, temperature, and air quality around the water body.</a:t>
            </a:r>
          </a:p>
          <a:p>
            <a:pPr algn="just"/>
            <a:r>
              <a:rPr lang="en-US" sz="2000" dirty="0">
                <a:latin typeface="Times New Roman" panose="02020603050405020304" pitchFamily="18" charset="0"/>
                <a:cs typeface="Times New Roman" panose="02020603050405020304" pitchFamily="18" charset="0"/>
              </a:rPr>
              <a:t>The system focuses on </a:t>
            </a:r>
            <a:r>
              <a:rPr lang="en-US" sz="2000" b="1" dirty="0">
                <a:latin typeface="Times New Roman" panose="02020603050405020304" pitchFamily="18" charset="0"/>
                <a:cs typeface="Times New Roman" panose="02020603050405020304" pitchFamily="18" charset="0"/>
              </a:rPr>
              <a:t>early detection and prevention</a:t>
            </a:r>
            <a:r>
              <a:rPr lang="en-US" sz="2000" dirty="0">
                <a:latin typeface="Times New Roman" panose="02020603050405020304" pitchFamily="18" charset="0"/>
                <a:cs typeface="Times New Roman" panose="02020603050405020304" pitchFamily="18" charset="0"/>
              </a:rPr>
              <a:t> rather than damage control. Instead of chemical treatment, it supports </a:t>
            </a:r>
            <a:r>
              <a:rPr lang="en-US" sz="2000" b="1" dirty="0">
                <a:latin typeface="Times New Roman" panose="02020603050405020304" pitchFamily="18" charset="0"/>
                <a:cs typeface="Times New Roman" panose="02020603050405020304" pitchFamily="18" charset="0"/>
              </a:rPr>
              <a:t>non‑destructive corrective actions</a:t>
            </a:r>
            <a:r>
              <a:rPr lang="en-US" sz="2000" dirty="0">
                <a:latin typeface="Times New Roman" panose="02020603050405020304" pitchFamily="18" charset="0"/>
                <a:cs typeface="Times New Roman" panose="02020603050405020304" pitchFamily="18" charset="0"/>
              </a:rPr>
              <a:t> such as controlled aeration and environmental alerts, ensuring that native species remain unaffected.</a:t>
            </a:r>
          </a:p>
          <a:p>
            <a:pPr algn="just"/>
            <a:r>
              <a:rPr lang="en-US" sz="2000" b="1" dirty="0">
                <a:latin typeface="Times New Roman" panose="02020603050405020304" pitchFamily="18" charset="0"/>
                <a:cs typeface="Times New Roman" panose="02020603050405020304" pitchFamily="18" charset="0"/>
              </a:rPr>
              <a:t>Key Features:</a:t>
            </a: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Real‑time monitoring</a:t>
            </a:r>
          </a:p>
          <a:p>
            <a:pPr algn="just"/>
            <a:r>
              <a:rPr lang="en-US" sz="2000" dirty="0">
                <a:latin typeface="Times New Roman" panose="02020603050405020304" pitchFamily="18" charset="0"/>
                <a:cs typeface="Times New Roman" panose="02020603050405020304" pitchFamily="18" charset="0"/>
              </a:rPr>
              <a:t>Early ecosystem degradation detection</a:t>
            </a:r>
          </a:p>
          <a:p>
            <a:pPr algn="just"/>
            <a:r>
              <a:rPr lang="en-US" sz="2000" dirty="0">
                <a:latin typeface="Times New Roman" panose="02020603050405020304" pitchFamily="18" charset="0"/>
                <a:cs typeface="Times New Roman" panose="02020603050405020304" pitchFamily="18" charset="0"/>
              </a:rPr>
              <a:t>Non‑destructive intervention support</a:t>
            </a:r>
          </a:p>
          <a:p>
            <a:pPr algn="just"/>
            <a:r>
              <a:rPr lang="en-US" sz="2000" dirty="0">
                <a:latin typeface="Times New Roman" panose="02020603050405020304" pitchFamily="18" charset="0"/>
                <a:cs typeface="Times New Roman" panose="02020603050405020304" pitchFamily="18" charset="0"/>
              </a:rPr>
              <a:t>Low‑cost and scalable design</a:t>
            </a:r>
          </a:p>
          <a:p>
            <a:pPr algn="just"/>
            <a:endParaRPr lang="en-US" sz="2000"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idx="4294967295"/>
          </p:nvPr>
        </p:nvSpPr>
        <p:spPr>
          <a:xfrm>
            <a:off x="603250" y="189000"/>
            <a:ext cx="10515600" cy="1325563"/>
          </a:xfrm>
        </p:spPr>
        <p:txBody>
          <a:bodyPr>
            <a:normAutofit/>
          </a:bodyPr>
          <a:lstStyle/>
          <a:p>
            <a:r>
              <a:rPr lang="en-US" b="1" dirty="0">
                <a:latin typeface="Times New Roman" panose="02020603050405020304" pitchFamily="18" charset="0"/>
                <a:cs typeface="Times New Roman" panose="02020603050405020304" pitchFamily="18" charset="0"/>
              </a:rPr>
              <a:t>Proposed system</a:t>
            </a:r>
          </a:p>
        </p:txBody>
      </p:sp>
    </p:spTree>
    <p:extLst>
      <p:ext uri="{BB962C8B-B14F-4D97-AF65-F5344CB8AC3E}">
        <p14:creationId xmlns:p14="http://schemas.microsoft.com/office/powerpoint/2010/main" val="37571928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03250" y="1446213"/>
            <a:ext cx="11588750" cy="4827587"/>
          </a:xfrm>
        </p:spPr>
        <p:txBody>
          <a:bodyPr>
            <a:normAutofit/>
          </a:bodyPr>
          <a:lstStyle/>
          <a:p>
            <a:pPr algn="just"/>
            <a:r>
              <a:rPr lang="en-US" sz="2400" dirty="0"/>
              <a:t>To design and develop a </a:t>
            </a:r>
            <a:r>
              <a:rPr lang="en-US" sz="2400" b="1" dirty="0"/>
              <a:t>low‑cost IoT‑based aquatic monitoring system</a:t>
            </a:r>
            <a:r>
              <a:rPr lang="en-US" sz="2400" dirty="0"/>
              <a:t> for early detection of algae bloom conditions.</a:t>
            </a:r>
          </a:p>
          <a:p>
            <a:pPr algn="just"/>
            <a:r>
              <a:rPr lang="en-US" sz="2400" dirty="0"/>
              <a:t>To monitor key environmental parameters such as </a:t>
            </a:r>
            <a:r>
              <a:rPr lang="en-US" sz="2400" b="1" dirty="0"/>
              <a:t>turbidity, temperature, light intensity, and air quality</a:t>
            </a:r>
            <a:r>
              <a:rPr lang="en-US" sz="2400" dirty="0"/>
              <a:t> using sensors.</a:t>
            </a:r>
          </a:p>
          <a:p>
            <a:pPr algn="just"/>
            <a:r>
              <a:rPr lang="en-US" sz="2400" dirty="0"/>
              <a:t>To analyze sensor data using </a:t>
            </a:r>
            <a:r>
              <a:rPr lang="en-US" sz="2400" b="1" dirty="0"/>
              <a:t>ESP32</a:t>
            </a:r>
            <a:r>
              <a:rPr lang="en-US" sz="2400" dirty="0"/>
              <a:t> and classify </a:t>
            </a:r>
            <a:r>
              <a:rPr lang="en-US" sz="2400" b="1" dirty="0"/>
              <a:t>algae bloom risk levels</a:t>
            </a:r>
            <a:r>
              <a:rPr lang="en-US" sz="2400" dirty="0"/>
              <a:t> (Low, Medium, High).</a:t>
            </a:r>
          </a:p>
          <a:p>
            <a:pPr algn="just"/>
            <a:r>
              <a:rPr lang="en-US" sz="2400" dirty="0"/>
              <a:t>To implement </a:t>
            </a:r>
            <a:r>
              <a:rPr lang="en-US" sz="2400" b="1" dirty="0"/>
              <a:t>automated preventive control</a:t>
            </a:r>
            <a:r>
              <a:rPr lang="en-US" sz="2400" dirty="0"/>
              <a:t> using actuators like water pumps and cooling fan.</a:t>
            </a:r>
          </a:p>
          <a:p>
            <a:pPr algn="just"/>
            <a:r>
              <a:rPr lang="en-US" sz="2400" dirty="0"/>
              <a:t>To demonstrate a </a:t>
            </a:r>
            <a:r>
              <a:rPr lang="en-US" sz="2400" b="1" dirty="0"/>
              <a:t>non‑chemical, sustainable, and beginner‑friendly solution</a:t>
            </a:r>
            <a:r>
              <a:rPr lang="en-US" sz="2400" dirty="0"/>
              <a:t> for aquatic ecosystem protection.</a:t>
            </a:r>
          </a:p>
          <a:p>
            <a:pPr marL="0" indent="0" algn="just">
              <a:buNone/>
            </a:pPr>
            <a:endParaRPr lang="en-US" sz="2400"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idx="4294967295"/>
          </p:nvPr>
        </p:nvSpPr>
        <p:spPr>
          <a:xfrm>
            <a:off x="393600" y="189000"/>
            <a:ext cx="10748963" cy="1122363"/>
          </a:xfrm>
        </p:spPr>
        <p:txBody>
          <a:bodyPr>
            <a:normAutofit/>
          </a:bodyPr>
          <a:lstStyle/>
          <a:p>
            <a:r>
              <a:rPr lang="en-US" b="1" dirty="0">
                <a:latin typeface="Times New Roman" panose="02020603050405020304" pitchFamily="18" charset="0"/>
                <a:cs typeface="Times New Roman" panose="02020603050405020304" pitchFamily="18" charset="0"/>
              </a:rPr>
              <a:t>Objectives</a:t>
            </a:r>
          </a:p>
        </p:txBody>
      </p:sp>
    </p:spTree>
    <p:extLst>
      <p:ext uri="{BB962C8B-B14F-4D97-AF65-F5344CB8AC3E}">
        <p14:creationId xmlns:p14="http://schemas.microsoft.com/office/powerpoint/2010/main" val="8490768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623820-B23E-564A-67D1-5B571A3B06B9}"/>
              </a:ext>
            </a:extLst>
          </p:cNvPr>
          <p:cNvSpPr txBox="1"/>
          <p:nvPr/>
        </p:nvSpPr>
        <p:spPr>
          <a:xfrm>
            <a:off x="523200" y="318600"/>
            <a:ext cx="11145600" cy="5755422"/>
          </a:xfrm>
          <a:prstGeom prst="rect">
            <a:avLst/>
          </a:prstGeom>
          <a:noFill/>
        </p:spPr>
        <p:txBody>
          <a:bodyPr wrap="square">
            <a:spAutoFit/>
          </a:bodyPr>
          <a:lstStyle/>
          <a:p>
            <a:pPr algn="ctr">
              <a:buNone/>
            </a:pPr>
            <a:r>
              <a:rPr lang="en-US" sz="3200" b="1" dirty="0"/>
              <a:t>Implementation</a:t>
            </a:r>
          </a:p>
          <a:p>
            <a:pPr algn="just">
              <a:buNone/>
            </a:pPr>
            <a:endParaRPr lang="en-US" sz="2800" b="1" dirty="0"/>
          </a:p>
          <a:p>
            <a:pPr algn="just">
              <a:buNone/>
            </a:pPr>
            <a:r>
              <a:rPr lang="en-US" sz="2800" b="1" dirty="0"/>
              <a:t>Low-Cost IoT-Based Aquatic Monitoring System</a:t>
            </a:r>
          </a:p>
          <a:p>
            <a:pPr algn="just">
              <a:buNone/>
            </a:pPr>
            <a:r>
              <a:rPr lang="en-US" sz="2800" dirty="0"/>
              <a:t>This project focuses on designing and developing a low-cost IoT-based aquatic monitoring system for the early detection of algae bloom conditions in ponds, lakes, and small water bodies. Algae blooms can cause serious damage to aquatic ecosystems by reducing dissolved oxygen, blocking sunlight, and harming fish and other organisms. Traditional monitoring systems are often expensive and require frequent manual checking. To solve this problem, this project uses affordable sensors, the ESP32 microcontroller, and simple automation techniques to provide continuous monitoring. The system is cost-effective, reliable, and suitable for educational as well as real-world small-scale applications.</a:t>
            </a:r>
          </a:p>
        </p:txBody>
      </p:sp>
    </p:spTree>
    <p:extLst>
      <p:ext uri="{BB962C8B-B14F-4D97-AF65-F5344CB8AC3E}">
        <p14:creationId xmlns:p14="http://schemas.microsoft.com/office/powerpoint/2010/main" val="32197476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E87971-1659-CEF5-A54B-89FEAEB89FED}"/>
              </a:ext>
            </a:extLst>
          </p:cNvPr>
          <p:cNvSpPr txBox="1"/>
          <p:nvPr/>
        </p:nvSpPr>
        <p:spPr>
          <a:xfrm>
            <a:off x="782400" y="582067"/>
            <a:ext cx="10045622" cy="5693866"/>
          </a:xfrm>
          <a:prstGeom prst="rect">
            <a:avLst/>
          </a:prstGeom>
          <a:noFill/>
        </p:spPr>
        <p:txBody>
          <a:bodyPr wrap="square">
            <a:spAutoFit/>
          </a:bodyPr>
          <a:lstStyle/>
          <a:p>
            <a:pPr algn="just">
              <a:buNone/>
            </a:pPr>
            <a:r>
              <a:rPr lang="en-US" sz="2800" b="1" dirty="0"/>
              <a:t>Monitoring Environmental Parameters</a:t>
            </a:r>
          </a:p>
          <a:p>
            <a:pPr algn="just">
              <a:buNone/>
            </a:pPr>
            <a:r>
              <a:rPr lang="en-US" sz="2800" dirty="0"/>
              <a:t>The system continuously monitors important environmental factors that directly influence algae growth and water quality. Turbidity sensors measure the cloudiness of water caused by suspended particles, which can indicate pollution or bloom formation. Temperature sensors detect changes in water temperature, as warmer water supports faster algae growth. Light intensity sensors measure sunlight exposure, which is essential for algae photosynthesis. Air quality monitoring helps understand the surrounding environmental conditions that may affect the aquatic system. By collecting real-time data from all these sensors, the system provides accurate and timely information for better decision-making.</a:t>
            </a:r>
          </a:p>
        </p:txBody>
      </p:sp>
    </p:spTree>
    <p:extLst>
      <p:ext uri="{BB962C8B-B14F-4D97-AF65-F5344CB8AC3E}">
        <p14:creationId xmlns:p14="http://schemas.microsoft.com/office/powerpoint/2010/main" val="13224902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2E5F7A-9688-6BE3-6547-4142A02BA0B5}"/>
              </a:ext>
            </a:extLst>
          </p:cNvPr>
          <p:cNvSpPr txBox="1"/>
          <p:nvPr/>
        </p:nvSpPr>
        <p:spPr>
          <a:xfrm>
            <a:off x="652800" y="707400"/>
            <a:ext cx="10497600" cy="4401205"/>
          </a:xfrm>
          <a:prstGeom prst="rect">
            <a:avLst/>
          </a:prstGeom>
          <a:noFill/>
        </p:spPr>
        <p:txBody>
          <a:bodyPr wrap="square">
            <a:spAutoFit/>
          </a:bodyPr>
          <a:lstStyle/>
          <a:p>
            <a:pPr algn="just">
              <a:buNone/>
            </a:pPr>
            <a:r>
              <a:rPr lang="en-US" sz="2800" b="1" dirty="0"/>
              <a:t>Sensor Data Analysis Using ESP32</a:t>
            </a:r>
          </a:p>
          <a:p>
            <a:pPr algn="just">
              <a:buNone/>
            </a:pPr>
            <a:r>
              <a:rPr lang="en-US" sz="2800" dirty="0"/>
              <a:t>The ESP32 microcontroller acts as the main processing unit of the system. It receives data from all connected sensors, processes the readings, and compares them with predefined threshold values to identify possible algae bloom conditions. Based on this analysis, the system classifies the algae bloom risk into three categories: Low Risk, Medium Risk, and High Risk. This classification makes it easier for users to understand the water condition quickly without technical knowledge. The ESP32 can also display the results on a monitoring platform and support remote observation through IoT connectivity.</a:t>
            </a:r>
          </a:p>
        </p:txBody>
      </p:sp>
    </p:spTree>
    <p:extLst>
      <p:ext uri="{BB962C8B-B14F-4D97-AF65-F5344CB8AC3E}">
        <p14:creationId xmlns:p14="http://schemas.microsoft.com/office/powerpoint/2010/main" val="11862661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025AEF-2E37-7B03-4C1E-AF137BB22DA1}"/>
              </a:ext>
            </a:extLst>
          </p:cNvPr>
          <p:cNvSpPr txBox="1"/>
          <p:nvPr/>
        </p:nvSpPr>
        <p:spPr>
          <a:xfrm>
            <a:off x="652800" y="837000"/>
            <a:ext cx="10304822" cy="4832092"/>
          </a:xfrm>
          <a:prstGeom prst="rect">
            <a:avLst/>
          </a:prstGeom>
          <a:noFill/>
        </p:spPr>
        <p:txBody>
          <a:bodyPr wrap="square">
            <a:spAutoFit/>
          </a:bodyPr>
          <a:lstStyle/>
          <a:p>
            <a:pPr algn="just">
              <a:buNone/>
            </a:pPr>
            <a:r>
              <a:rPr lang="en-US" sz="2800" b="1" dirty="0"/>
              <a:t>Automated Preventive Control</a:t>
            </a:r>
          </a:p>
          <a:p>
            <a:pPr algn="just">
              <a:buNone/>
            </a:pPr>
            <a:r>
              <a:rPr lang="en-US" sz="2800" dirty="0"/>
              <a:t>To reduce the chances of harmful algae bloom formation, the system includes automated preventive control using actuators such as a water pump and a cooling fan. When sensor values indicate unsafe conditions, the water pump automatically improves water circulation, helping to reduce stagnant water where algae grow easily. The cooling fan helps lower the temperature when excessive heat is detected, preventing rapid algae growth. This automation improves system efficiency, reduces human effort, and ensures a faster response to environmental changes. It also helps maintain a healthier aquatic environment continuously.</a:t>
            </a:r>
          </a:p>
        </p:txBody>
      </p:sp>
    </p:spTree>
    <p:extLst>
      <p:ext uri="{BB962C8B-B14F-4D97-AF65-F5344CB8AC3E}">
        <p14:creationId xmlns:p14="http://schemas.microsoft.com/office/powerpoint/2010/main" val="7086454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0DBA7D-7DF1-3C32-B5D6-390065EBFC33}"/>
              </a:ext>
            </a:extLst>
          </p:cNvPr>
          <p:cNvSpPr txBox="1"/>
          <p:nvPr/>
        </p:nvSpPr>
        <p:spPr>
          <a:xfrm>
            <a:off x="1008389" y="707400"/>
            <a:ext cx="10175222" cy="5262979"/>
          </a:xfrm>
          <a:prstGeom prst="rect">
            <a:avLst/>
          </a:prstGeom>
          <a:noFill/>
        </p:spPr>
        <p:txBody>
          <a:bodyPr wrap="square">
            <a:spAutoFit/>
          </a:bodyPr>
          <a:lstStyle/>
          <a:p>
            <a:pPr algn="just">
              <a:buNone/>
            </a:pPr>
            <a:r>
              <a:rPr lang="en-US" sz="2800" b="1" dirty="0"/>
              <a:t>Sustainable and Beginner-Friendly Solution</a:t>
            </a:r>
          </a:p>
          <a:p>
            <a:pPr algn="just">
              <a:buNone/>
            </a:pPr>
            <a:r>
              <a:rPr lang="en-US" sz="2800" dirty="0"/>
              <a:t>This project provides a non-chemical, eco-friendly, and sustainable method for protecting aquatic ecosystems. Instead of using chemical treatments that may harm fish, plants, and water quality, the system focuses on prevention through smart monitoring and automatic control. The design is simple, beginner-friendly, and easy to implement using commonly available components such as ESP32, sensors, relays, and basic actuators. It is highly suitable for students, researchers, aquarium owners, and small pond managers. This project also helps promote practical learning in IoT, embedded systems, and environmental protection while supporting long-term sustainability.</a:t>
            </a:r>
          </a:p>
        </p:txBody>
      </p:sp>
    </p:spTree>
    <p:extLst>
      <p:ext uri="{BB962C8B-B14F-4D97-AF65-F5344CB8AC3E}">
        <p14:creationId xmlns:p14="http://schemas.microsoft.com/office/powerpoint/2010/main" val="26997273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E9222C-740A-E48D-BA8F-B74AF62F5B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7200" y="0"/>
            <a:ext cx="6377940" cy="6858000"/>
          </a:xfrm>
          <a:prstGeom prst="rect">
            <a:avLst/>
          </a:prstGeom>
        </p:spPr>
      </p:pic>
    </p:spTree>
    <p:extLst>
      <p:ext uri="{BB962C8B-B14F-4D97-AF65-F5344CB8AC3E}">
        <p14:creationId xmlns:p14="http://schemas.microsoft.com/office/powerpoint/2010/main" val="24882348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01625" y="1248599"/>
            <a:ext cx="11588750" cy="4827587"/>
          </a:xfrm>
        </p:spPr>
        <p:txBody>
          <a:bodyPr>
            <a:normAutofit/>
          </a:bodyPr>
          <a:lstStyle/>
          <a:p>
            <a:endParaRPr lang="en-US" sz="1400" dirty="0">
              <a:latin typeface="Times New Roman" panose="02020603050405020304" pitchFamily="18" charset="0"/>
              <a:cs typeface="Times New Roman" panose="02020603050405020304" pitchFamily="18" charset="0"/>
            </a:endParaRPr>
          </a:p>
          <a:p>
            <a:pPr marL="0" indent="0">
              <a:buNone/>
            </a:pPr>
            <a:endParaRPr lang="en-US" dirty="0"/>
          </a:p>
        </p:txBody>
      </p:sp>
      <p:sp>
        <p:nvSpPr>
          <p:cNvPr id="2" name="Title 1"/>
          <p:cNvSpPr>
            <a:spLocks noGrp="1"/>
          </p:cNvSpPr>
          <p:nvPr>
            <p:ph type="title" idx="4294967295"/>
          </p:nvPr>
        </p:nvSpPr>
        <p:spPr>
          <a:xfrm>
            <a:off x="264000" y="92252"/>
            <a:ext cx="10748963" cy="1122363"/>
          </a:xfrm>
        </p:spPr>
        <p:txBody>
          <a:bodyPr>
            <a:normAutofit/>
          </a:bodyPr>
          <a:lstStyle/>
          <a:p>
            <a:r>
              <a:rPr lang="en-US" b="1" dirty="0">
                <a:latin typeface="Times New Roman" panose="02020603050405020304" pitchFamily="18" charset="0"/>
                <a:cs typeface="Times New Roman" panose="02020603050405020304" pitchFamily="18" charset="0"/>
              </a:rPr>
              <a:t>Methodology</a:t>
            </a:r>
          </a:p>
        </p:txBody>
      </p:sp>
      <p:sp>
        <p:nvSpPr>
          <p:cNvPr id="4" name="Rectangle 3"/>
          <p:cNvSpPr/>
          <p:nvPr/>
        </p:nvSpPr>
        <p:spPr>
          <a:xfrm>
            <a:off x="393600" y="1214615"/>
            <a:ext cx="9052264" cy="4093428"/>
          </a:xfrm>
          <a:prstGeom prst="rect">
            <a:avLst/>
          </a:prstGeom>
        </p:spPr>
        <p:txBody>
          <a:bodyPr wrap="square">
            <a:spAutoFit/>
          </a:bodyPr>
          <a:lstStyle/>
          <a:p>
            <a:r>
              <a:rPr lang="en-IN" sz="2200" b="1" dirty="0">
                <a:latin typeface="Times New Roman" panose="02020603050405020304" pitchFamily="18" charset="0"/>
                <a:cs typeface="Times New Roman" panose="02020603050405020304" pitchFamily="18" charset="0"/>
              </a:rPr>
              <a:t>System Flow:</a:t>
            </a:r>
            <a:endParaRPr lang="en-IN" sz="22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Sensor Data Collection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Signal Conditioning</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ESP32 Processing</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Serial Monitor / Output Display</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Ecosystem Health Evaluation</a:t>
            </a:r>
          </a:p>
          <a:p>
            <a:r>
              <a:rPr lang="en-US" dirty="0">
                <a:latin typeface="Times New Roman" panose="02020603050405020304" pitchFamily="18" charset="0"/>
                <a:cs typeface="Times New Roman" panose="02020603050405020304" pitchFamily="18" charset="0"/>
              </a:rPr>
              <a:t>→ Actuator Activation (Relay / Pump / Aerator)</a:t>
            </a:r>
          </a:p>
          <a:p>
            <a:endParaRPr lang="en-US" dirty="0">
              <a:latin typeface="Times New Roman" panose="02020603050405020304" pitchFamily="18" charset="0"/>
              <a:cs typeface="Times New Roman" panose="02020603050405020304" pitchFamily="18" charset="0"/>
            </a:endParaRPr>
          </a:p>
          <a:p>
            <a:r>
              <a:rPr lang="en-IN" sz="2200" b="1" dirty="0">
                <a:latin typeface="Times New Roman" panose="02020603050405020304" pitchFamily="18" charset="0"/>
                <a:cs typeface="Times New Roman" panose="02020603050405020304" pitchFamily="18" charset="0"/>
              </a:rPr>
              <a:t>Modules:</a:t>
            </a:r>
            <a:endParaRPr lang="en-IN" sz="22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Sensor Module (Turbidity, LDR, Temperature, Gas, Float)</a:t>
            </a:r>
          </a:p>
          <a:p>
            <a:r>
              <a:rPr lang="en-IN" sz="2000" dirty="0">
                <a:latin typeface="Times New Roman" panose="02020603050405020304" pitchFamily="18" charset="0"/>
                <a:cs typeface="Times New Roman" panose="02020603050405020304" pitchFamily="18" charset="0"/>
              </a:rPr>
              <a:t>Processing Module (ESP32)</a:t>
            </a:r>
          </a:p>
          <a:p>
            <a:r>
              <a:rPr lang="en-IN" sz="2000" dirty="0">
                <a:latin typeface="Times New Roman" panose="02020603050405020304" pitchFamily="18" charset="0"/>
                <a:cs typeface="Times New Roman" panose="02020603050405020304" pitchFamily="18" charset="0"/>
              </a:rPr>
              <a:t>Monitoring Module (Arduino Serial Monitor)</a:t>
            </a:r>
          </a:p>
          <a:p>
            <a:r>
              <a:rPr lang="en-IN" sz="2000" dirty="0">
                <a:latin typeface="Times New Roman" panose="02020603050405020304" pitchFamily="18" charset="0"/>
                <a:cs typeface="Times New Roman" panose="02020603050405020304" pitchFamily="18" charset="0"/>
              </a:rPr>
              <a:t>Decision Support Module (Alert / Control Logic)</a:t>
            </a:r>
          </a:p>
        </p:txBody>
      </p:sp>
    </p:spTree>
    <p:extLst>
      <p:ext uri="{BB962C8B-B14F-4D97-AF65-F5344CB8AC3E}">
        <p14:creationId xmlns:p14="http://schemas.microsoft.com/office/powerpoint/2010/main" val="25601742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2A66BF-F964-53BA-2CA7-8282492C4AB9}"/>
              </a:ext>
            </a:extLst>
          </p:cNvPr>
          <p:cNvPicPr>
            <a:picLocks noChangeAspect="1"/>
          </p:cNvPicPr>
          <p:nvPr/>
        </p:nvPicPr>
        <p:blipFill>
          <a:blip r:embed="rId2">
            <a:extLst>
              <a:ext uri="{28A0092B-C50C-407E-A947-70E740481C1C}">
                <a14:useLocalDpi xmlns:a14="http://schemas.microsoft.com/office/drawing/2010/main" val="0"/>
              </a:ext>
            </a:extLst>
          </a:blip>
          <a:srcRect t="32174" b="23586"/>
          <a:stretch>
            <a:fillRect/>
          </a:stretch>
        </p:blipFill>
        <p:spPr>
          <a:xfrm>
            <a:off x="652800" y="2133000"/>
            <a:ext cx="10287000" cy="2851200"/>
          </a:xfrm>
          <a:prstGeom prst="rect">
            <a:avLst/>
          </a:prstGeom>
        </p:spPr>
      </p:pic>
      <p:sp>
        <p:nvSpPr>
          <p:cNvPr id="4" name="TextBox 3">
            <a:extLst>
              <a:ext uri="{FF2B5EF4-FFF2-40B4-BE49-F238E27FC236}">
                <a16:creationId xmlns:a16="http://schemas.microsoft.com/office/drawing/2014/main" id="{B010A1B4-6356-9C06-007D-A611B545FB04}"/>
              </a:ext>
            </a:extLst>
          </p:cNvPr>
          <p:cNvSpPr txBox="1"/>
          <p:nvPr/>
        </p:nvSpPr>
        <p:spPr>
          <a:xfrm>
            <a:off x="3269100" y="1096200"/>
            <a:ext cx="5054400" cy="707886"/>
          </a:xfrm>
          <a:prstGeom prst="rect">
            <a:avLst/>
          </a:prstGeom>
          <a:noFill/>
        </p:spPr>
        <p:txBody>
          <a:bodyPr wrap="square" rtlCol="0">
            <a:spAutoFit/>
          </a:bodyPr>
          <a:lstStyle/>
          <a:p>
            <a:pPr algn="just"/>
            <a:r>
              <a:rPr lang="en-IN" sz="4000" b="1" dirty="0"/>
              <a:t>Methodology Diagram</a:t>
            </a:r>
          </a:p>
        </p:txBody>
      </p:sp>
    </p:spTree>
    <p:extLst>
      <p:ext uri="{BB962C8B-B14F-4D97-AF65-F5344CB8AC3E}">
        <p14:creationId xmlns:p14="http://schemas.microsoft.com/office/powerpoint/2010/main" val="9621979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03250" y="1446213"/>
            <a:ext cx="11588750" cy="4827587"/>
          </a:xfrm>
        </p:spPr>
        <p:txBody>
          <a:bodyPr>
            <a:noAutofit/>
          </a:bodyPr>
          <a:lstStyle/>
          <a:p>
            <a:pPr marL="0" indent="0">
              <a:buNone/>
            </a:pPr>
            <a:r>
              <a:rPr lang="en-IN" sz="1600" b="1" dirty="0">
                <a:latin typeface="Times New Roman" panose="02020603050405020304" pitchFamily="18" charset="0"/>
                <a:cs typeface="Times New Roman" panose="02020603050405020304" pitchFamily="18" charset="0"/>
              </a:rPr>
              <a:t>Hardware:</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ESP32 Microcontroller</a:t>
            </a:r>
          </a:p>
          <a:p>
            <a:r>
              <a:rPr lang="en-IN" sz="1600" dirty="0">
                <a:latin typeface="Times New Roman" panose="02020603050405020304" pitchFamily="18" charset="0"/>
                <a:cs typeface="Times New Roman" panose="02020603050405020304" pitchFamily="18" charset="0"/>
              </a:rPr>
              <a:t>Turbidity Sensor</a:t>
            </a:r>
          </a:p>
          <a:p>
            <a:r>
              <a:rPr lang="en-IN" sz="1600" dirty="0">
                <a:latin typeface="Times New Roman" panose="02020603050405020304" pitchFamily="18" charset="0"/>
                <a:cs typeface="Times New Roman" panose="02020603050405020304" pitchFamily="18" charset="0"/>
              </a:rPr>
              <a:t>Light Sensor (LDR)</a:t>
            </a:r>
          </a:p>
          <a:p>
            <a:r>
              <a:rPr lang="en-IN" sz="1600" dirty="0">
                <a:latin typeface="Times New Roman" panose="02020603050405020304" pitchFamily="18" charset="0"/>
                <a:cs typeface="Times New Roman" panose="02020603050405020304" pitchFamily="18" charset="0"/>
              </a:rPr>
              <a:t>Gas Sensor (MQ-135)</a:t>
            </a:r>
          </a:p>
          <a:p>
            <a:r>
              <a:rPr lang="en-IN" sz="1600" dirty="0">
                <a:latin typeface="Times New Roman" panose="02020603050405020304" pitchFamily="18" charset="0"/>
                <a:cs typeface="Times New Roman" panose="02020603050405020304" pitchFamily="18" charset="0"/>
              </a:rPr>
              <a:t>Float Sensor</a:t>
            </a:r>
          </a:p>
          <a:p>
            <a:r>
              <a:rPr lang="en-IN" sz="1600" dirty="0">
                <a:latin typeface="Times New Roman" panose="02020603050405020304" pitchFamily="18" charset="0"/>
                <a:cs typeface="Times New Roman" panose="02020603050405020304" pitchFamily="18" charset="0"/>
              </a:rPr>
              <a:t>Temperature Sensor (DHT)</a:t>
            </a:r>
          </a:p>
          <a:p>
            <a:r>
              <a:rPr lang="en-IN" sz="1600" dirty="0">
                <a:latin typeface="Times New Roman" panose="02020603050405020304" pitchFamily="18" charset="0"/>
                <a:cs typeface="Times New Roman" panose="02020603050405020304" pitchFamily="18" charset="0"/>
              </a:rPr>
              <a:t>Relay Module</a:t>
            </a:r>
          </a:p>
          <a:p>
            <a:r>
              <a:rPr lang="en-IN" sz="1600" dirty="0">
                <a:latin typeface="Times New Roman" panose="02020603050405020304" pitchFamily="18" charset="0"/>
                <a:cs typeface="Times New Roman" panose="02020603050405020304" pitchFamily="18" charset="0"/>
              </a:rPr>
              <a:t>DC Water Pumps</a:t>
            </a:r>
          </a:p>
          <a:p>
            <a:r>
              <a:rPr lang="en-IN" sz="1600" dirty="0">
                <a:latin typeface="Times New Roman" panose="02020603050405020304" pitchFamily="18" charset="0"/>
                <a:cs typeface="Times New Roman" panose="02020603050405020304" pitchFamily="18" charset="0"/>
              </a:rPr>
              <a:t>DC Fan</a:t>
            </a:r>
          </a:p>
          <a:p>
            <a:pPr marL="0" indent="0">
              <a:buNone/>
            </a:pPr>
            <a:endParaRPr lang="en-IN" sz="1600" dirty="0">
              <a:latin typeface="Times New Roman" panose="02020603050405020304" pitchFamily="18" charset="0"/>
              <a:cs typeface="Times New Roman" panose="02020603050405020304" pitchFamily="18" charset="0"/>
            </a:endParaRPr>
          </a:p>
          <a:p>
            <a:pPr marL="0" indent="0">
              <a:buNone/>
            </a:pPr>
            <a:r>
              <a:rPr lang="en-IN" sz="1600" b="1" dirty="0">
                <a:latin typeface="Times New Roman" panose="02020603050405020304" pitchFamily="18" charset="0"/>
                <a:cs typeface="Times New Roman" panose="02020603050405020304" pitchFamily="18" charset="0"/>
              </a:rPr>
              <a:t>Software:</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Arduino IDE</a:t>
            </a:r>
          </a:p>
          <a:p>
            <a:r>
              <a:rPr lang="en-IN" sz="1600" dirty="0">
                <a:latin typeface="Times New Roman" panose="02020603050405020304" pitchFamily="18" charset="0"/>
                <a:cs typeface="Times New Roman" panose="02020603050405020304" pitchFamily="18" charset="0"/>
              </a:rPr>
              <a:t>Embedded C / C++</a:t>
            </a:r>
          </a:p>
          <a:p>
            <a:r>
              <a:rPr lang="en-IN" sz="1600" dirty="0">
                <a:latin typeface="Times New Roman" panose="02020603050405020304" pitchFamily="18" charset="0"/>
                <a:cs typeface="Times New Roman" panose="02020603050405020304" pitchFamily="18" charset="0"/>
              </a:rPr>
              <a:t>Serial Communication</a:t>
            </a:r>
          </a:p>
          <a:p>
            <a:pPr marL="0" indent="0">
              <a:buNone/>
            </a:pPr>
            <a:endParaRPr lang="en-US" sz="1600" dirty="0">
              <a:solidFill>
                <a:schemeClr val="tx1"/>
              </a:solidFill>
              <a:latin typeface="Times New Roman" panose="02020603050405020304" pitchFamily="18" charset="0"/>
              <a:cs typeface="Times New Roman" panose="02020603050405020304" pitchFamily="18" charset="0"/>
            </a:endParaRPr>
          </a:p>
        </p:txBody>
      </p:sp>
      <p:sp>
        <p:nvSpPr>
          <p:cNvPr id="2" name="Title 1"/>
          <p:cNvSpPr>
            <a:spLocks noGrp="1"/>
          </p:cNvSpPr>
          <p:nvPr>
            <p:ph type="title" idx="4294967295"/>
          </p:nvPr>
        </p:nvSpPr>
        <p:spPr>
          <a:xfrm>
            <a:off x="393600" y="189000"/>
            <a:ext cx="10748963" cy="1122363"/>
          </a:xfrm>
        </p:spPr>
        <p:txBody>
          <a:bodyPr>
            <a:normAutofit/>
          </a:bodyPr>
          <a:lstStyle/>
          <a:p>
            <a:r>
              <a:rPr lang="en-US" b="1" dirty="0">
                <a:latin typeface="Times New Roman" panose="02020603050405020304" pitchFamily="18" charset="0"/>
                <a:cs typeface="Times New Roman" panose="02020603050405020304" pitchFamily="18" charset="0"/>
              </a:rPr>
              <a:t>Technologies</a:t>
            </a:r>
          </a:p>
        </p:txBody>
      </p:sp>
    </p:spTree>
    <p:extLst>
      <p:ext uri="{BB962C8B-B14F-4D97-AF65-F5344CB8AC3E}">
        <p14:creationId xmlns:p14="http://schemas.microsoft.com/office/powerpoint/2010/main" val="12424813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4294967295"/>
          </p:nvPr>
        </p:nvSpPr>
        <p:spPr bwMode="auto">
          <a:xfrm>
            <a:off x="523200" y="1429600"/>
            <a:ext cx="10368000" cy="3722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2000" dirty="0"/>
              <a:t>Real‑time sensor readings were successfully displayed on the Arduino Serial Monitor.</a:t>
            </a:r>
          </a:p>
          <a:p>
            <a:pPr algn="just"/>
            <a:r>
              <a:rPr lang="en-US" sz="2000" dirty="0"/>
              <a:t>Turbidity and light intensity variations were clearly observed.</a:t>
            </a:r>
          </a:p>
          <a:p>
            <a:pPr algn="just"/>
            <a:r>
              <a:rPr lang="en-US" sz="2000" dirty="0"/>
              <a:t>ESP32 showed stable and continuous data acquisition</a:t>
            </a:r>
            <a:r>
              <a:rPr lang="en-US" dirty="0"/>
              <a:t>.</a:t>
            </a:r>
          </a:p>
          <a:p>
            <a:pPr algn="just"/>
            <a:r>
              <a:rPr lang="en-US" sz="2000" b="1" dirty="0"/>
              <a:t>Observations:</a:t>
            </a:r>
            <a:endParaRPr lang="en-US" sz="2000" dirty="0"/>
          </a:p>
          <a:p>
            <a:pPr algn="just"/>
            <a:r>
              <a:rPr lang="en-US" sz="2000" dirty="0"/>
              <a:t>Early changes in water clarity can be detected effectively.</a:t>
            </a:r>
          </a:p>
          <a:p>
            <a:pPr algn="just"/>
            <a:r>
              <a:rPr lang="en-US" sz="2000" dirty="0"/>
              <a:t>The system supports continuous, real‑time monitoring.</a:t>
            </a:r>
          </a:p>
          <a:p>
            <a:pPr algn="just"/>
            <a:r>
              <a:rPr lang="en-US" sz="2000" dirty="0"/>
              <a:t>Monitoring method is non‑destructive and safe for native species.</a:t>
            </a:r>
          </a:p>
          <a:p>
            <a:pPr algn="just"/>
            <a:r>
              <a:rPr lang="en-US" sz="2000" dirty="0"/>
              <a:t>Actuator integration is planned as a future enhancement.</a:t>
            </a:r>
          </a:p>
          <a:p>
            <a:pPr marL="0" indent="0" algn="just">
              <a:buNone/>
            </a:pPr>
            <a:endPar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 name="Title 1"/>
          <p:cNvSpPr>
            <a:spLocks noGrp="1"/>
          </p:cNvSpPr>
          <p:nvPr>
            <p:ph type="title" idx="4294967295"/>
          </p:nvPr>
        </p:nvSpPr>
        <p:spPr>
          <a:xfrm>
            <a:off x="523200" y="318601"/>
            <a:ext cx="10368000" cy="777600"/>
          </a:xfrm>
        </p:spPr>
        <p:txBody>
          <a:bodyPr/>
          <a:lstStyle/>
          <a:p>
            <a:r>
              <a:rPr lang="en-US" dirty="0">
                <a:latin typeface="Times New Roman" panose="02020603050405020304" pitchFamily="18" charset="0"/>
                <a:cs typeface="Times New Roman" panose="02020603050405020304" pitchFamily="18" charset="0"/>
              </a:rPr>
              <a:t>Results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6399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88CB9D-BEBE-06E3-089C-E153E3584D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4000" y="1355400"/>
            <a:ext cx="5184000" cy="3299400"/>
          </a:xfrm>
          <a:prstGeom prst="rect">
            <a:avLst/>
          </a:prstGeom>
        </p:spPr>
      </p:pic>
      <p:pic>
        <p:nvPicPr>
          <p:cNvPr id="6" name="Picture 5">
            <a:extLst>
              <a:ext uri="{FF2B5EF4-FFF2-40B4-BE49-F238E27FC236}">
                <a16:creationId xmlns:a16="http://schemas.microsoft.com/office/drawing/2014/main" id="{DD6F35F7-C63F-8486-F047-300FD3103724}"/>
              </a:ext>
            </a:extLst>
          </p:cNvPr>
          <p:cNvPicPr>
            <a:picLocks noChangeAspect="1"/>
          </p:cNvPicPr>
          <p:nvPr/>
        </p:nvPicPr>
        <p:blipFill>
          <a:blip r:embed="rId3">
            <a:extLst>
              <a:ext uri="{28A0092B-C50C-407E-A947-70E740481C1C}">
                <a14:useLocalDpi xmlns:a14="http://schemas.microsoft.com/office/drawing/2010/main" val="0"/>
              </a:ext>
            </a:extLst>
          </a:blip>
          <a:srcRect t="13953" b="4651"/>
          <a:stretch>
            <a:fillRect/>
          </a:stretch>
        </p:blipFill>
        <p:spPr>
          <a:xfrm>
            <a:off x="6355200" y="737100"/>
            <a:ext cx="4780013" cy="4536000"/>
          </a:xfrm>
          <a:prstGeom prst="rect">
            <a:avLst/>
          </a:prstGeom>
        </p:spPr>
      </p:pic>
      <p:sp>
        <p:nvSpPr>
          <p:cNvPr id="7" name="TextBox 6">
            <a:extLst>
              <a:ext uri="{FF2B5EF4-FFF2-40B4-BE49-F238E27FC236}">
                <a16:creationId xmlns:a16="http://schemas.microsoft.com/office/drawing/2014/main" id="{CBC5C5B6-0EE3-D95A-9FC8-257FCD4B15C4}"/>
              </a:ext>
            </a:extLst>
          </p:cNvPr>
          <p:cNvSpPr txBox="1"/>
          <p:nvPr/>
        </p:nvSpPr>
        <p:spPr>
          <a:xfrm>
            <a:off x="523200" y="5273100"/>
            <a:ext cx="4780013" cy="923330"/>
          </a:xfrm>
          <a:prstGeom prst="rect">
            <a:avLst/>
          </a:prstGeom>
          <a:noFill/>
        </p:spPr>
        <p:txBody>
          <a:bodyPr wrap="square" rtlCol="0">
            <a:spAutoFit/>
          </a:bodyPr>
          <a:lstStyle/>
          <a:p>
            <a:pPr algn="just"/>
            <a:r>
              <a:rPr lang="en-IN" dirty="0"/>
              <a:t>Fig 1: Demonstration of the Aquatic System with </a:t>
            </a:r>
            <a:r>
              <a:rPr lang="en-IN" b="1" dirty="0"/>
              <a:t>Money plant </a:t>
            </a:r>
            <a:r>
              <a:rPr lang="en-IN" dirty="0"/>
              <a:t>as Native species and </a:t>
            </a:r>
            <a:r>
              <a:rPr lang="en-IN" b="1" dirty="0" err="1"/>
              <a:t>DuckWeed</a:t>
            </a:r>
            <a:r>
              <a:rPr lang="en-IN" dirty="0"/>
              <a:t> as Invasive species</a:t>
            </a:r>
          </a:p>
        </p:txBody>
      </p:sp>
      <p:sp>
        <p:nvSpPr>
          <p:cNvPr id="8" name="TextBox 7">
            <a:extLst>
              <a:ext uri="{FF2B5EF4-FFF2-40B4-BE49-F238E27FC236}">
                <a16:creationId xmlns:a16="http://schemas.microsoft.com/office/drawing/2014/main" id="{FDBD8116-110A-3501-820F-09D42C157029}"/>
              </a:ext>
            </a:extLst>
          </p:cNvPr>
          <p:cNvSpPr txBox="1"/>
          <p:nvPr/>
        </p:nvSpPr>
        <p:spPr>
          <a:xfrm>
            <a:off x="6309673" y="5520735"/>
            <a:ext cx="4650413" cy="1200329"/>
          </a:xfrm>
          <a:prstGeom prst="rect">
            <a:avLst/>
          </a:prstGeom>
          <a:noFill/>
        </p:spPr>
        <p:txBody>
          <a:bodyPr wrap="square" rtlCol="0">
            <a:spAutoFit/>
          </a:bodyPr>
          <a:lstStyle/>
          <a:p>
            <a:pPr algn="just"/>
            <a:r>
              <a:rPr lang="en-IN" dirty="0"/>
              <a:t>Fig 2: Non-Destructive Invasive species Suppression system by monitoring the environmental parameters through sensors and micro controller</a:t>
            </a:r>
          </a:p>
        </p:txBody>
      </p:sp>
    </p:spTree>
    <p:extLst>
      <p:ext uri="{BB962C8B-B14F-4D97-AF65-F5344CB8AC3E}">
        <p14:creationId xmlns:p14="http://schemas.microsoft.com/office/powerpoint/2010/main" val="32845631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F2CA06B-23DD-4230-8AD4-243F78D38BAF}"/>
              </a:ext>
            </a:extLst>
          </p:cNvPr>
          <p:cNvPicPr>
            <a:picLocks noChangeAspect="1"/>
          </p:cNvPicPr>
          <p:nvPr/>
        </p:nvPicPr>
        <p:blipFill>
          <a:blip r:embed="rId2">
            <a:extLst>
              <a:ext uri="{28A0092B-C50C-407E-A947-70E740481C1C}">
                <a14:useLocalDpi xmlns:a14="http://schemas.microsoft.com/office/drawing/2010/main" val="0"/>
              </a:ext>
            </a:extLst>
          </a:blip>
          <a:srcRect l="22362" t="25433" r="54252" b="36772"/>
          <a:stretch>
            <a:fillRect/>
          </a:stretch>
        </p:blipFill>
        <p:spPr>
          <a:xfrm>
            <a:off x="1560000" y="837000"/>
            <a:ext cx="2851200" cy="2980800"/>
          </a:xfrm>
          <a:prstGeom prst="rect">
            <a:avLst/>
          </a:prstGeom>
        </p:spPr>
      </p:pic>
      <p:sp>
        <p:nvSpPr>
          <p:cNvPr id="4" name="TextBox 3">
            <a:extLst>
              <a:ext uri="{FF2B5EF4-FFF2-40B4-BE49-F238E27FC236}">
                <a16:creationId xmlns:a16="http://schemas.microsoft.com/office/drawing/2014/main" id="{DBDD8BB2-DFF3-4770-42AF-5514C411D131}"/>
              </a:ext>
            </a:extLst>
          </p:cNvPr>
          <p:cNvSpPr txBox="1"/>
          <p:nvPr/>
        </p:nvSpPr>
        <p:spPr>
          <a:xfrm>
            <a:off x="2013600" y="4206600"/>
            <a:ext cx="1944000" cy="369332"/>
          </a:xfrm>
          <a:prstGeom prst="rect">
            <a:avLst/>
          </a:prstGeom>
          <a:noFill/>
        </p:spPr>
        <p:txBody>
          <a:bodyPr wrap="square" rtlCol="0">
            <a:spAutoFit/>
          </a:bodyPr>
          <a:lstStyle/>
          <a:p>
            <a:r>
              <a:rPr lang="en-IN" dirty="0"/>
              <a:t>Output 1- Low risk</a:t>
            </a:r>
          </a:p>
        </p:txBody>
      </p:sp>
      <p:pic>
        <p:nvPicPr>
          <p:cNvPr id="6" name="Picture 5">
            <a:extLst>
              <a:ext uri="{FF2B5EF4-FFF2-40B4-BE49-F238E27FC236}">
                <a16:creationId xmlns:a16="http://schemas.microsoft.com/office/drawing/2014/main" id="{C924D78D-1263-6316-4DFA-0AA16611AA49}"/>
              </a:ext>
            </a:extLst>
          </p:cNvPr>
          <p:cNvPicPr>
            <a:picLocks noChangeAspect="1"/>
          </p:cNvPicPr>
          <p:nvPr/>
        </p:nvPicPr>
        <p:blipFill>
          <a:blip r:embed="rId3">
            <a:extLst>
              <a:ext uri="{28A0092B-C50C-407E-A947-70E740481C1C}">
                <a14:useLocalDpi xmlns:a14="http://schemas.microsoft.com/office/drawing/2010/main" val="0"/>
              </a:ext>
            </a:extLst>
          </a:blip>
          <a:srcRect l="23425" t="32992" r="51063" b="38661"/>
          <a:stretch>
            <a:fillRect/>
          </a:stretch>
        </p:blipFill>
        <p:spPr>
          <a:xfrm>
            <a:off x="6873600" y="1290600"/>
            <a:ext cx="3110400" cy="2203200"/>
          </a:xfrm>
          <a:prstGeom prst="rect">
            <a:avLst/>
          </a:prstGeom>
        </p:spPr>
      </p:pic>
      <p:sp>
        <p:nvSpPr>
          <p:cNvPr id="7" name="TextBox 6">
            <a:extLst>
              <a:ext uri="{FF2B5EF4-FFF2-40B4-BE49-F238E27FC236}">
                <a16:creationId xmlns:a16="http://schemas.microsoft.com/office/drawing/2014/main" id="{6A29AA17-5980-1EB7-CF31-F4AF64755210}"/>
              </a:ext>
            </a:extLst>
          </p:cNvPr>
          <p:cNvSpPr txBox="1"/>
          <p:nvPr/>
        </p:nvSpPr>
        <p:spPr>
          <a:xfrm>
            <a:off x="6873600" y="4206600"/>
            <a:ext cx="3110400" cy="369332"/>
          </a:xfrm>
          <a:prstGeom prst="rect">
            <a:avLst/>
          </a:prstGeom>
          <a:noFill/>
        </p:spPr>
        <p:txBody>
          <a:bodyPr wrap="square" rtlCol="0">
            <a:spAutoFit/>
          </a:bodyPr>
          <a:lstStyle/>
          <a:p>
            <a:r>
              <a:rPr lang="en-IN" dirty="0"/>
              <a:t>Output 2-Medium risk</a:t>
            </a:r>
          </a:p>
        </p:txBody>
      </p:sp>
    </p:spTree>
    <p:extLst>
      <p:ext uri="{BB962C8B-B14F-4D97-AF65-F5344CB8AC3E}">
        <p14:creationId xmlns:p14="http://schemas.microsoft.com/office/powerpoint/2010/main" val="41840388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vid">
            <a:hlinkClick r:id="" action="ppaction://media"/>
            <a:extLst>
              <a:ext uri="{FF2B5EF4-FFF2-40B4-BE49-F238E27FC236}">
                <a16:creationId xmlns:a16="http://schemas.microsoft.com/office/drawing/2014/main" id="{150EC0A3-F1F3-7A81-CDCA-8AEABBE53A4E}"/>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244800" y="457638"/>
            <a:ext cx="5313712" cy="4396962"/>
          </a:xfrm>
          <a:prstGeom prst="rect">
            <a:avLst/>
          </a:prstGeom>
        </p:spPr>
      </p:pic>
      <p:sp>
        <p:nvSpPr>
          <p:cNvPr id="3" name="TextBox 2">
            <a:extLst>
              <a:ext uri="{FF2B5EF4-FFF2-40B4-BE49-F238E27FC236}">
                <a16:creationId xmlns:a16="http://schemas.microsoft.com/office/drawing/2014/main" id="{9C37904D-0843-AB9C-4CB8-EC433FB98E9D}"/>
              </a:ext>
            </a:extLst>
          </p:cNvPr>
          <p:cNvSpPr txBox="1"/>
          <p:nvPr/>
        </p:nvSpPr>
        <p:spPr>
          <a:xfrm>
            <a:off x="3837981" y="5373000"/>
            <a:ext cx="4665600" cy="461665"/>
          </a:xfrm>
          <a:prstGeom prst="rect">
            <a:avLst/>
          </a:prstGeom>
          <a:noFill/>
        </p:spPr>
        <p:txBody>
          <a:bodyPr wrap="square" rtlCol="0">
            <a:spAutoFit/>
          </a:bodyPr>
          <a:lstStyle/>
          <a:p>
            <a:r>
              <a:rPr lang="en-US" sz="2400" b="1" dirty="0"/>
              <a:t>Functioning of the Actuators</a:t>
            </a:r>
            <a:endParaRPr lang="en-IN" sz="2400" b="1" dirty="0"/>
          </a:p>
        </p:txBody>
      </p:sp>
    </p:spTree>
    <p:extLst>
      <p:ext uri="{BB962C8B-B14F-4D97-AF65-F5344CB8AC3E}">
        <p14:creationId xmlns:p14="http://schemas.microsoft.com/office/powerpoint/2010/main" val="1862420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6632"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93090" y="318600"/>
            <a:ext cx="10515600" cy="1325563"/>
          </a:xfrm>
        </p:spPr>
        <p:txBody>
          <a:bodyPr/>
          <a:lstStyle/>
          <a:p>
            <a:r>
              <a:rPr lang="en-US" dirty="0">
                <a:latin typeface="Times New Roman" panose="02020603050405020304" pitchFamily="18" charset="0"/>
                <a:cs typeface="Times New Roman" panose="02020603050405020304" pitchFamily="18" charset="0"/>
              </a:rPr>
              <a:t>References</a:t>
            </a:r>
          </a:p>
        </p:txBody>
      </p:sp>
      <p:sp>
        <p:nvSpPr>
          <p:cNvPr id="5" name="Rectangle 4"/>
          <p:cNvSpPr/>
          <p:nvPr/>
        </p:nvSpPr>
        <p:spPr>
          <a:xfrm>
            <a:off x="838201" y="1916227"/>
            <a:ext cx="10809302" cy="1631216"/>
          </a:xfrm>
          <a:prstGeom prst="rect">
            <a:avLst/>
          </a:prstGeom>
        </p:spPr>
        <p:txBody>
          <a:bodyPr wrap="square">
            <a:spAutoFit/>
          </a:bodyPr>
          <a:lstStyle/>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Lokman et al.,  AI‑IoT Based Water Quality Monitoring, 2025.</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Xia et al., Machine Learning for Algal Bloom Prediction, 2024.</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Wang et al., Multi‑Sensor IoT Environmental Monitoring System, 2025.</a:t>
            </a:r>
          </a:p>
          <a:p>
            <a:br>
              <a:rPr lang="en-IN" sz="2000" dirty="0">
                <a:latin typeface="Times New Roman" panose="02020603050405020304" pitchFamily="18" charset="0"/>
                <a:cs typeface="Times New Roman" panose="02020603050405020304" pitchFamily="18" charset="0"/>
              </a:rPr>
            </a:b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99411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4019550" y="2243138"/>
            <a:ext cx="8172450" cy="4351337"/>
          </a:xfrm>
        </p:spPr>
        <p:txBody>
          <a:bodyPr>
            <a:normAutofit/>
          </a:bodyPr>
          <a:lstStyle/>
          <a:p>
            <a:pPr marL="0" indent="0">
              <a:buNone/>
            </a:pPr>
            <a:r>
              <a:rPr lang="en-US" sz="7200" dirty="0">
                <a:solidFill>
                  <a:schemeClr val="tx1"/>
                </a:solidFill>
                <a:latin typeface="Times New Roman" panose="02020603050405020304" pitchFamily="18" charset="0"/>
                <a:cs typeface="Times New Roman" panose="02020603050405020304" pitchFamily="18" charset="0"/>
              </a:rPr>
              <a:t>Thank you</a:t>
            </a:r>
            <a:endParaRPr lang="en-IN" sz="72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88053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AssetEditForm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DirectSourceMarket xmlns="4873beb7-5857-4685-be1f-d57550cc96cc" xsi:nil="true"/>
    <ApprovalStatus xmlns="4873beb7-5857-4685-be1f-d57550cc96cc">InProgress</ApprovalStatus>
    <MarketSpecific xmlns="4873beb7-5857-4685-be1f-d57550cc96cc">false</MarketSpecific>
    <LocComments xmlns="4873beb7-5857-4685-be1f-d57550cc96cc" xsi:nil="true"/>
    <ThumbnailAssetId xmlns="4873beb7-5857-4685-be1f-d57550cc96cc" xsi:nil="true"/>
    <PrimaryImageGen xmlns="4873beb7-5857-4685-be1f-d57550cc96cc">true</PrimaryImageGen>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1584528</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 xsi:nil="true"/>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2012-06-20T23:39:00+00:00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UACurrentWords xmlns="4873beb7-5857-4685-be1f-d57550cc96cc" xsi:nil="true"/>
    <ArtSampleDocs xmlns="4873beb7-5857-4685-be1f-d57550cc96cc" xsi:nil="true"/>
    <UALocRecommendation xmlns="4873beb7-5857-4685-be1f-d57550cc96cc">Localize</UALocRecommendation>
    <Manager xmlns="4873beb7-5857-4685-be1f-d57550cc96cc" xsi:nil="true"/>
    <ShowIn xmlns="4873beb7-5857-4685-be1f-d57550cc96cc">Show everywhere</ShowIn>
    <UANotes xmlns="4873beb7-5857-4685-be1f-d57550cc96cc" xsi:nil="true"/>
    <TemplateStatus xmlns="4873beb7-5857-4685-be1f-d57550cc96cc">Complete</TemplateStatus>
    <InternalTagsTaxHTField0 xmlns="4873beb7-5857-4685-be1f-d57550cc96cc">
      <Terms xmlns="http://schemas.microsoft.com/office/infopath/2007/PartnerControls"/>
    </InternalTagsTaxHTField0>
    <CSXHash xmlns="4873beb7-5857-4685-be1f-d57550cc96cc" xsi:nil="true"/>
    <Downloads xmlns="4873beb7-5857-4685-be1f-d57550cc96cc">0</Downloads>
    <VoteCount xmlns="4873beb7-5857-4685-be1f-d57550cc96cc" xsi:nil="true"/>
    <OOCacheId xmlns="4873beb7-5857-4685-be1f-d57550cc96cc" xsi:nil="true"/>
    <IsDeleted xmlns="4873beb7-5857-4685-be1f-d57550cc96cc">false</IsDeleted>
    <AssetExpire xmlns="4873beb7-5857-4685-be1f-d57550cc96cc">2029-01-01T08:00:00+00:00</AssetExpire>
    <DSATActionTaken xmlns="4873beb7-5857-4685-be1f-d57550cc96cc" xsi:nil="true"/>
    <CSXSubmissionMarket xmlns="4873beb7-5857-4685-be1f-d57550cc96cc" xsi:nil="true"/>
    <TPExecutable xmlns="4873beb7-5857-4685-be1f-d57550cc96cc" xsi:nil="true"/>
    <SubmitterId xmlns="4873beb7-5857-4685-be1f-d57550cc96cc" xsi:nil="true"/>
    <EditorialTags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TP102923943</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843282</LocLastLocAttemptVersionLookup>
    <IsSearchable xmlns="4873beb7-5857-4685-be1f-d57550cc96cc">true</IsSearchable>
    <TemplateTemplateType xmlns="4873beb7-5857-4685-be1f-d57550cc96cc">PowerPoint Template - Slideshow Launch</TemplateTemplateType>
    <CampaignTagsTaxHTField0 xmlns="4873beb7-5857-4685-be1f-d57550cc96cc">
      <Terms xmlns="http://schemas.microsoft.com/office/infopath/2007/PartnerControls"/>
    </CampaignTagsTaxHTField0>
    <TPNamespace xmlns="4873beb7-5857-4685-be1f-d57550cc96cc" xsi:nil="true"/>
    <TaxCatchAll xmlns="4873beb7-5857-4685-be1f-d57550cc96cc"/>
    <Markets xmlns="4873beb7-5857-4685-be1f-d57550cc96cc"/>
    <UAProjectedTotalWords xmlns="4873beb7-5857-4685-be1f-d57550cc96cc" xsi:nil="true"/>
    <IntlLangReview xmlns="4873beb7-5857-4685-be1f-d57550cc96cc">false</IntlLangReview>
    <OutputCachingOn xmlns="4873beb7-5857-4685-be1f-d57550cc96cc">false</OutputCachingOn>
    <AverageRating xmlns="4873beb7-5857-4685-be1f-d57550cc96cc" xsi:nil="true"/>
    <LocMarketGroupTiers2 xmlns="4873beb7-5857-4685-be1f-d57550cc96cc" xsi:nil="true"/>
    <APAuthor xmlns="4873beb7-5857-4685-be1f-d57550cc96cc">
      <UserInfo>
        <DisplayName>REDMOND\v-sa</DisplayName>
        <AccountId>2467</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OriginalRelease xmlns="4873beb7-5857-4685-be1f-d57550cc96cc">15</OriginalRelease>
    <TPLaunchHelpLinkType xmlns="4873beb7-5857-4685-be1f-d57550cc96cc">Template</TPLaunchHelpLinkType>
    <LocalizationTagsTaxHTField0 xmlns="4873beb7-5857-4685-be1f-d57550cc96cc">
      <Terms xmlns="http://schemas.microsoft.com/office/infopath/2007/PartnerControls"/>
    </LocalizationTagsTaxHTField0>
  </documentManagement>
</p:properties>
</file>

<file path=customXml/itemProps1.xml><?xml version="1.0" encoding="utf-8"?>
<ds:datastoreItem xmlns:ds="http://schemas.openxmlformats.org/officeDocument/2006/customXml" ds:itemID="{63EE7759-C66F-4EA4-9863-7EBA32518D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3DEC53A-9DF1-4780-BE92-17E971B7A9ED}">
  <ds:schemaRefs>
    <ds:schemaRef ds:uri="http://schemas.microsoft.com/sharepoint/v3/contenttype/forms"/>
  </ds:schemaRefs>
</ds:datastoreItem>
</file>

<file path=customXml/itemProps3.xml><?xml version="1.0" encoding="utf-8"?>
<ds:datastoreItem xmlns:ds="http://schemas.openxmlformats.org/officeDocument/2006/customXml" ds:itemID="{B970C04F-E7AC-41AB-9C6D-1B1BB88BFF7F}">
  <ds:schemaRefs>
    <ds:schemaRef ds:uri="4873beb7-5857-4685-be1f-d57550cc96cc"/>
    <ds:schemaRef ds:uri="http://purl.org/dc/dcmitype/"/>
    <ds:schemaRef ds:uri="http://schemas.openxmlformats.org/package/2006/metadata/core-properties"/>
    <ds:schemaRef ds:uri="http://schemas.microsoft.com/office/2006/metadata/properties"/>
    <ds:schemaRef ds:uri="http://www.w3.org/XML/1998/namespace"/>
    <ds:schemaRef ds:uri="http://schemas.microsoft.com/office/2006/documentManagement/types"/>
    <ds:schemaRef ds:uri="http://purl.org/dc/elements/1.1/"/>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emplate>Facet</Template>
  <TotalTime>1136</TotalTime>
  <Words>1712</Words>
  <Application>Microsoft Office PowerPoint</Application>
  <PresentationFormat>Widescreen</PresentationFormat>
  <Paragraphs>159</Paragraphs>
  <Slides>23</Slides>
  <Notes>1</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Arial Black</vt:lpstr>
      <vt:lpstr>Calibri</vt:lpstr>
      <vt:lpstr>Calibri Light</vt:lpstr>
      <vt:lpstr>Times New Roman</vt:lpstr>
      <vt:lpstr>Wingdings</vt:lpstr>
      <vt:lpstr>Office Theme</vt:lpstr>
      <vt:lpstr>Presented By:  Team Members: 1.K.Pranitha - 24251A05E6 2.M.Sneha-24251A05F1 3.P.Vaishnavi-24251A05F6</vt:lpstr>
      <vt:lpstr>Table of Contents</vt:lpstr>
      <vt:lpstr>Introduction</vt:lpstr>
      <vt:lpstr>Literature Survey (List the reference papers in year-wise order, starting with the most recent year first, followed by earlier years.)</vt:lpstr>
      <vt:lpstr>Existing system</vt:lpstr>
      <vt:lpstr>Problem statement</vt:lpstr>
      <vt:lpstr>Proposed system</vt:lpstr>
      <vt:lpstr>Objectives</vt:lpstr>
      <vt:lpstr>PowerPoint Presentation</vt:lpstr>
      <vt:lpstr>PowerPoint Presentation</vt:lpstr>
      <vt:lpstr>PowerPoint Presentation</vt:lpstr>
      <vt:lpstr>PowerPoint Presentation</vt:lpstr>
      <vt:lpstr>PowerPoint Presentation</vt:lpstr>
      <vt:lpstr>PowerPoint Presentation</vt:lpstr>
      <vt:lpstr>Methodology</vt:lpstr>
      <vt:lpstr>PowerPoint Presentation</vt:lpstr>
      <vt:lpstr>Technologies</vt:lpstr>
      <vt:lpstr>Results</vt:lpstr>
      <vt:lpstr>PowerPoint Presentation</vt:lpstr>
      <vt:lpstr>PowerPoint Presentation</vt:lpstr>
      <vt:lpstr>PowerPoint Presentation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Name Designation  Affiliation Email ID</dc:title>
  <dc:creator>Microsoft account</dc:creator>
  <cp:lastModifiedBy>Adla manideep</cp:lastModifiedBy>
  <cp:revision>55</cp:revision>
  <dcterms:created xsi:type="dcterms:W3CDTF">2022-09-27T04:56:00Z</dcterms:created>
  <dcterms:modified xsi:type="dcterms:W3CDTF">2026-06-10T00:41:17Z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_TemplateID">
    <vt:lpwstr>TC029239449991</vt:lpwstr>
  </property>
  <property fmtid="{D5CDD505-2E9C-101B-9397-08002B2CF9AE}" pid="4" name="ContentTypeId">
    <vt:lpwstr>0x0101006EDDDB5EE6D98C44930B742096920B300400F5B6D36B3EF94B4E9A635CDF2A18F5B8</vt:lpwstr>
  </property>
  <property fmtid="{D5CDD505-2E9C-101B-9397-08002B2CF9AE}" pid="5" name="FeatureTags">
    <vt:lpwstr/>
  </property>
  <property fmtid="{D5CDD505-2E9C-101B-9397-08002B2CF9AE}" pid="6" name="LocalizationTags">
    <vt:lpwstr/>
  </property>
  <property fmtid="{D5CDD505-2E9C-101B-9397-08002B2CF9AE}" pid="7" name="ScenarioTags">
    <vt:lpwstr/>
  </property>
  <property fmtid="{D5CDD505-2E9C-101B-9397-08002B2CF9AE}" pid="8" name="CampaignTags">
    <vt:lpwstr/>
  </property>
</Properties>
</file>